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9" r:id="rId6"/>
    <p:sldId id="258" r:id="rId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9E1"/>
    <a:srgbClr val="D2B763"/>
    <a:srgbClr val="3A436A"/>
    <a:srgbClr val="A07E43"/>
    <a:srgbClr val="E5D66D"/>
    <a:srgbClr val="C395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E8280-FF03-964A-6B80-0F4DEE499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6147B-F743-A11D-678C-29313FB48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2FE7D-9273-8643-3D4E-EE67F6EE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7E75F-1940-3C7A-6EBD-793955A1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F01B1-114A-0E08-1309-4C99CE5FD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0C23A9-81A7-2BDB-71A4-E5A935BFFA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436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93654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67E4-82D7-17E7-9EB3-5B575B10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274C6-A902-238A-6F34-CC82056DF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E5830-83CB-FE67-25A3-5FB89D0D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2E106-6238-92BD-D79A-FA1B3878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916BC-7077-6E82-9606-62EFD799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289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4E89-00F4-896C-32ED-400CFB89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F39E7-E3EC-4DA4-E47A-A5D24B9FB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0B760-6045-950A-C273-CAB20A2F2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36321-19E7-08BF-57A5-4B5E77770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4C773-9083-85E4-A0EE-04C8FE80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37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C9AE8-D063-0DAD-F6DE-2A7EF423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5F6DA-792F-E825-3902-4A1E059C7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662B1-B599-FBC5-2DC2-6C376CF28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6AFFC-2143-7FF9-34D8-B33AC62A1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B8B69-C978-7274-22CE-724980339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B271E-A2A5-7D24-5C84-B6526E160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99078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EE14-52C7-2413-7BD9-89F4AB70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8C2AF-D06F-6A80-916D-FF383956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B35B8-B7EC-0235-4002-69BDB6DA7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5991E-0B93-CC6F-E2B3-4BE3FE9F7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1ACBB-78CD-5CF7-CB16-549420847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C4D8B-88CB-5089-27EB-5F7336A8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89D66-D1CB-B942-146B-50F3B51D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44C613-D91C-EFAE-1462-FE59E53C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6650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0E09-92BA-F08E-92CB-3DA2144DC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BEEEA-0014-56AF-1665-A8607C16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73B7B-BCA2-532F-C352-E748C014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F09A8-55EE-0772-241E-391F457C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465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722A1F-29F5-35A7-C82C-67E8701B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CD552-48F2-5E32-8412-A0170D4D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5A610-BAE9-3064-DD2F-75D0EFF2F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9124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C6B3-BF66-F0EF-534C-D995F18A5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2D9CD-4E63-5CDD-DBA9-947F37993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27722-854D-3679-0807-8541BA461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B78F7-9198-D2E4-ECB8-23D4045C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354DE-763B-0C92-4FD5-7A5CEF1ED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7FFCB-6873-444B-41D9-250E97736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0717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AA2BE-4AFE-124E-7976-B6D8D360D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5FF667-E3BB-85C3-B8CD-23217BA5E2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13BDC-44F8-F5E2-4BBA-CB7D95C1D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F6506-FCAA-4BC0-D23C-D8D6973C2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73736-2A32-6073-EAF1-117392ACE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04B79-B9EB-1B1A-11A9-995211F9E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532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682D2-95BC-C8CA-7E0C-BF77A576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9A7229-4F0C-2124-2D3A-7A8907E36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DAE0E-0B95-0189-51AE-FC61DA733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7364C-A7C6-5EE2-C153-E698A2D68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C1473-F44B-948D-49C2-D71A1429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4171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37031-D58D-04BB-C735-B2A3BF260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EE69D-76A4-7B31-5BF2-B80D7C0C4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EA893-DF6B-2536-EA68-3C77E045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60F69-819C-E141-BF28-701EE43C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E28D5-97D6-B354-0C16-A75AA108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34922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8C669-6DB3-DE2B-7820-F4080937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58FC8-13A9-BE91-0914-6EE53E2B6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60CC2-B2E4-ED10-73BD-AB01CA1EE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B2E8A-82C6-472E-B811-A55987BE5C25}" type="datetimeFigureOut">
              <a:rPr lang="pt-PT" smtClean="0"/>
              <a:t>13/08/2025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234FD-6E9C-DCAF-095D-F50CDD0B9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162B5-A8E4-2CAB-9AC2-BC6DBDB87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78B83-F14B-46B6-AF60-07967B208EF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1743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944B-5B93-0B07-54FF-76615787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: Rounded Corners 1026">
            <a:extLst>
              <a:ext uri="{FF2B5EF4-FFF2-40B4-BE49-F238E27FC236}">
                <a16:creationId xmlns:a16="http://schemas.microsoft.com/office/drawing/2014/main" id="{A323533B-8313-4A68-7D41-200479E3E46D}"/>
              </a:ext>
            </a:extLst>
          </p:cNvPr>
          <p:cNvSpPr/>
          <p:nvPr/>
        </p:nvSpPr>
        <p:spPr>
          <a:xfrm>
            <a:off x="2289875" y="952772"/>
            <a:ext cx="5476100" cy="2406398"/>
          </a:xfrm>
          <a:prstGeom prst="roundRect">
            <a:avLst/>
          </a:prstGeom>
          <a:gradFill flip="none" rotWithShape="1">
            <a:gsLst>
              <a:gs pos="0">
                <a:srgbClr val="3A436A">
                  <a:tint val="66000"/>
                  <a:satMod val="160000"/>
                </a:srgbClr>
              </a:gs>
              <a:gs pos="50000">
                <a:srgbClr val="3A436A">
                  <a:tint val="44500"/>
                  <a:satMod val="160000"/>
                </a:srgbClr>
              </a:gs>
              <a:gs pos="100000">
                <a:srgbClr val="3A436A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AE4E5D-9E1D-E036-A74F-CAC3C701B47E}"/>
              </a:ext>
            </a:extLst>
          </p:cNvPr>
          <p:cNvSpPr/>
          <p:nvPr/>
        </p:nvSpPr>
        <p:spPr>
          <a:xfrm>
            <a:off x="174614" y="952771"/>
            <a:ext cx="2004526" cy="5300245"/>
          </a:xfrm>
          <a:prstGeom prst="roundRect">
            <a:avLst/>
          </a:prstGeom>
          <a:solidFill>
            <a:srgbClr val="3A436A"/>
          </a:soli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pic>
        <p:nvPicPr>
          <p:cNvPr id="1026" name="Picture 2" descr="Joker - RTP">
            <a:extLst>
              <a:ext uri="{FF2B5EF4-FFF2-40B4-BE49-F238E27FC236}">
                <a16:creationId xmlns:a16="http://schemas.microsoft.com/office/drawing/2014/main" id="{FE3409E5-986C-89D1-FFE0-0B12B623E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23" y="231681"/>
            <a:ext cx="1334672" cy="50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Ringer with solid fill">
            <a:extLst>
              <a:ext uri="{FF2B5EF4-FFF2-40B4-BE49-F238E27FC236}">
                <a16:creationId xmlns:a16="http://schemas.microsoft.com/office/drawing/2014/main" id="{D3B16214-CDDA-717C-C227-A6402BBD1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7611" y="337609"/>
            <a:ext cx="313379" cy="313379"/>
          </a:xfrm>
          <a:prstGeom prst="rect">
            <a:avLst/>
          </a:prstGeom>
        </p:spPr>
      </p:pic>
      <p:pic>
        <p:nvPicPr>
          <p:cNvPr id="15" name="Graphic 14" descr="Help with solid fill">
            <a:extLst>
              <a:ext uri="{FF2B5EF4-FFF2-40B4-BE49-F238E27FC236}">
                <a16:creationId xmlns:a16="http://schemas.microsoft.com/office/drawing/2014/main" id="{3F044082-2B40-1222-36FF-87F3AEF865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91174" y="337610"/>
            <a:ext cx="313379" cy="31337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B5EE7B8-852B-95FF-0243-6F4CE300BBE0}"/>
              </a:ext>
            </a:extLst>
          </p:cNvPr>
          <p:cNvGrpSpPr/>
          <p:nvPr/>
        </p:nvGrpSpPr>
        <p:grpSpPr>
          <a:xfrm>
            <a:off x="11226237" y="309488"/>
            <a:ext cx="367100" cy="338065"/>
            <a:chOff x="10983045" y="226736"/>
            <a:chExt cx="462488" cy="425909"/>
          </a:xfrm>
        </p:grpSpPr>
        <p:pic>
          <p:nvPicPr>
            <p:cNvPr id="32" name="Graphic 31" descr="Office worker male with solid fill">
              <a:extLst>
                <a:ext uri="{FF2B5EF4-FFF2-40B4-BE49-F238E27FC236}">
                  <a16:creationId xmlns:a16="http://schemas.microsoft.com/office/drawing/2014/main" id="{1567EE2E-5408-2919-75E2-C0155E11F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005311" y="226737"/>
              <a:ext cx="394808" cy="394808"/>
            </a:xfrm>
            <a:prstGeom prst="rect">
              <a:avLst/>
            </a:prstGeom>
          </p:spPr>
        </p:pic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B39257F-9443-562D-9D25-6D285CBCDA26}"/>
                </a:ext>
              </a:extLst>
            </p:cNvPr>
            <p:cNvSpPr/>
            <p:nvPr/>
          </p:nvSpPr>
          <p:spPr>
            <a:xfrm>
              <a:off x="10983045" y="226736"/>
              <a:ext cx="462488" cy="425909"/>
            </a:xfrm>
            <a:prstGeom prst="ellipse">
              <a:avLst/>
            </a:prstGeom>
            <a:noFill/>
            <a:ln>
              <a:solidFill>
                <a:srgbClr val="3A43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D7797D0-8D24-8091-8EA7-83EB5A379D90}"/>
              </a:ext>
            </a:extLst>
          </p:cNvPr>
          <p:cNvSpPr txBox="1"/>
          <p:nvPr/>
        </p:nvSpPr>
        <p:spPr>
          <a:xfrm>
            <a:off x="286089" y="2011357"/>
            <a:ext cx="1865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Apostas Comunidade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797B8E-48D3-2595-08BC-2BD301B0F73B}"/>
              </a:ext>
            </a:extLst>
          </p:cNvPr>
          <p:cNvSpPr txBox="1"/>
          <p:nvPr/>
        </p:nvSpPr>
        <p:spPr>
          <a:xfrm>
            <a:off x="286089" y="2371067"/>
            <a:ext cx="1286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Ranking  </a:t>
            </a:r>
            <a:r>
              <a:rPr lang="pt-PT" sz="1050" dirty="0">
                <a:solidFill>
                  <a:srgbClr val="D8D9E1"/>
                </a:solidFill>
              </a:rPr>
              <a:t>▼</a:t>
            </a:r>
            <a:endParaRPr lang="pt-PT" sz="1400" b="1" dirty="0">
              <a:solidFill>
                <a:srgbClr val="D8D9E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5F7019B-235C-5C8A-EF53-725827B26556}"/>
              </a:ext>
            </a:extLst>
          </p:cNvPr>
          <p:cNvSpPr/>
          <p:nvPr/>
        </p:nvSpPr>
        <p:spPr>
          <a:xfrm>
            <a:off x="7891444" y="3548012"/>
            <a:ext cx="4009052" cy="2705006"/>
          </a:xfrm>
          <a:prstGeom prst="roundRect">
            <a:avLst/>
          </a:prstGeom>
          <a:solidFill>
            <a:srgbClr val="3A436A"/>
          </a:soli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600" dirty="0">
              <a:solidFill>
                <a:srgbClr val="D8D9E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06108E-DC21-6224-C698-C4A49D3D51B4}"/>
              </a:ext>
            </a:extLst>
          </p:cNvPr>
          <p:cNvSpPr txBox="1"/>
          <p:nvPr/>
        </p:nvSpPr>
        <p:spPr>
          <a:xfrm>
            <a:off x="9254624" y="3703475"/>
            <a:ext cx="1275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1" dirty="0">
                <a:solidFill>
                  <a:srgbClr val="D8D9E1"/>
                </a:solidFill>
              </a:rPr>
              <a:t>Estatísticas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1D4EEE7-C9DE-CBFE-D286-AB646D64FB73}"/>
              </a:ext>
            </a:extLst>
          </p:cNvPr>
          <p:cNvSpPr/>
          <p:nvPr/>
        </p:nvSpPr>
        <p:spPr>
          <a:xfrm>
            <a:off x="7891444" y="952849"/>
            <a:ext cx="4009052" cy="2416154"/>
          </a:xfrm>
          <a:prstGeom prst="roundRect">
            <a:avLst/>
          </a:prstGeom>
          <a:solidFill>
            <a:srgbClr val="3A436A"/>
          </a:soli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600" dirty="0">
              <a:solidFill>
                <a:srgbClr val="D8D9E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14E3D3-5B14-2745-1393-5C655293AEE9}"/>
              </a:ext>
            </a:extLst>
          </p:cNvPr>
          <p:cNvSpPr txBox="1"/>
          <p:nvPr/>
        </p:nvSpPr>
        <p:spPr>
          <a:xfrm>
            <a:off x="9203419" y="1047645"/>
            <a:ext cx="16297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1" dirty="0">
                <a:solidFill>
                  <a:srgbClr val="D8D9E1"/>
                </a:solidFill>
              </a:rPr>
              <a:t>Aposta hoje…</a:t>
            </a:r>
            <a:endParaRPr lang="pt-PT" sz="2000" b="1" dirty="0">
              <a:solidFill>
                <a:srgbClr val="D8D9E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AF86700-4B07-EB5E-F28B-763427DA0677}"/>
              </a:ext>
            </a:extLst>
          </p:cNvPr>
          <p:cNvSpPr/>
          <p:nvPr/>
        </p:nvSpPr>
        <p:spPr>
          <a:xfrm>
            <a:off x="8188449" y="1574809"/>
            <a:ext cx="1030996" cy="429436"/>
          </a:xfrm>
          <a:prstGeom prst="roundRect">
            <a:avLst/>
          </a:prstGeom>
          <a:solidFill>
            <a:srgbClr val="3A436A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>
                <a:solidFill>
                  <a:srgbClr val="D2B763"/>
                </a:solidFill>
              </a:rPr>
              <a:t>0€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7D3C5EE-DDC1-1467-FAD4-FE0A43925D1D}"/>
              </a:ext>
            </a:extLst>
          </p:cNvPr>
          <p:cNvSpPr/>
          <p:nvPr/>
        </p:nvSpPr>
        <p:spPr>
          <a:xfrm>
            <a:off x="9401885" y="1573214"/>
            <a:ext cx="1030996" cy="429436"/>
          </a:xfrm>
          <a:prstGeom prst="roundRect">
            <a:avLst/>
          </a:prstGeom>
          <a:solidFill>
            <a:srgbClr val="3A436A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>
                <a:solidFill>
                  <a:srgbClr val="D2B763"/>
                </a:solidFill>
              </a:rPr>
              <a:t>200€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8DAB8F6-39DD-D1FE-8556-4AAA02AA4A2F}"/>
              </a:ext>
            </a:extLst>
          </p:cNvPr>
          <p:cNvSpPr/>
          <p:nvPr/>
        </p:nvSpPr>
        <p:spPr>
          <a:xfrm>
            <a:off x="10644154" y="1556569"/>
            <a:ext cx="1030996" cy="429436"/>
          </a:xfrm>
          <a:prstGeom prst="roundRect">
            <a:avLst/>
          </a:prstGeom>
          <a:solidFill>
            <a:srgbClr val="3A436A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>
                <a:solidFill>
                  <a:srgbClr val="D2B763"/>
                </a:solidFill>
              </a:rPr>
              <a:t>500€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B0BA173-5061-13C5-3496-8D6B3293AD4F}"/>
              </a:ext>
            </a:extLst>
          </p:cNvPr>
          <p:cNvSpPr/>
          <p:nvPr/>
        </p:nvSpPr>
        <p:spPr>
          <a:xfrm>
            <a:off x="8172423" y="2117700"/>
            <a:ext cx="1030996" cy="429436"/>
          </a:xfrm>
          <a:prstGeom prst="roundRect">
            <a:avLst/>
          </a:prstGeom>
          <a:solidFill>
            <a:srgbClr val="3A436A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>
                <a:solidFill>
                  <a:srgbClr val="D2B763"/>
                </a:solidFill>
              </a:rPr>
              <a:t>1000€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575543A-D614-9406-EB67-7374DCFFF725}"/>
              </a:ext>
            </a:extLst>
          </p:cNvPr>
          <p:cNvSpPr/>
          <p:nvPr/>
        </p:nvSpPr>
        <p:spPr>
          <a:xfrm>
            <a:off x="9401885" y="2117700"/>
            <a:ext cx="1030996" cy="429436"/>
          </a:xfrm>
          <a:prstGeom prst="roundRect">
            <a:avLst/>
          </a:prstGeom>
          <a:solidFill>
            <a:srgbClr val="3A436A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>
                <a:solidFill>
                  <a:srgbClr val="D2B763"/>
                </a:solidFill>
              </a:rPr>
              <a:t>3000€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E84DD35-832E-238E-2A40-95CFAFEE2B17}"/>
              </a:ext>
            </a:extLst>
          </p:cNvPr>
          <p:cNvSpPr/>
          <p:nvPr/>
        </p:nvSpPr>
        <p:spPr>
          <a:xfrm>
            <a:off x="8172423" y="2660591"/>
            <a:ext cx="1030996" cy="429436"/>
          </a:xfrm>
          <a:prstGeom prst="roundRect">
            <a:avLst/>
          </a:prstGeom>
          <a:solidFill>
            <a:srgbClr val="3A436A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>
                <a:solidFill>
                  <a:srgbClr val="D2B763"/>
                </a:solidFill>
              </a:rPr>
              <a:t>50.000€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C4B9251-0B9A-3F40-852B-55A90146AC09}"/>
              </a:ext>
            </a:extLst>
          </p:cNvPr>
          <p:cNvSpPr/>
          <p:nvPr/>
        </p:nvSpPr>
        <p:spPr>
          <a:xfrm>
            <a:off x="10644154" y="2117700"/>
            <a:ext cx="1030996" cy="429436"/>
          </a:xfrm>
          <a:prstGeom prst="roundRect">
            <a:avLst/>
          </a:prstGeom>
          <a:solidFill>
            <a:srgbClr val="3A436A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>
                <a:solidFill>
                  <a:srgbClr val="D2B763"/>
                </a:solidFill>
              </a:rPr>
              <a:t>10.000€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78C786-29DD-416D-64A2-0FC9F3A2221C}"/>
              </a:ext>
            </a:extLst>
          </p:cNvPr>
          <p:cNvSpPr txBox="1"/>
          <p:nvPr/>
        </p:nvSpPr>
        <p:spPr>
          <a:xfrm>
            <a:off x="291504" y="1271093"/>
            <a:ext cx="1171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Concursos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29E23F-537D-71EE-622A-D35DE6C63535}"/>
              </a:ext>
            </a:extLst>
          </p:cNvPr>
          <p:cNvSpPr txBox="1"/>
          <p:nvPr/>
        </p:nvSpPr>
        <p:spPr>
          <a:xfrm>
            <a:off x="288169" y="1630120"/>
            <a:ext cx="15668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Histórico Apostas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D32B2-6920-8051-F052-A2D65621F6DE}"/>
              </a:ext>
            </a:extLst>
          </p:cNvPr>
          <p:cNvSpPr txBox="1"/>
          <p:nvPr/>
        </p:nvSpPr>
        <p:spPr>
          <a:xfrm>
            <a:off x="327251" y="5279130"/>
            <a:ext cx="519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FAQ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8A118-35E9-3B3D-D5D2-C941AF29BC5F}"/>
              </a:ext>
            </a:extLst>
          </p:cNvPr>
          <p:cNvSpPr txBox="1"/>
          <p:nvPr/>
        </p:nvSpPr>
        <p:spPr>
          <a:xfrm>
            <a:off x="325231" y="4973708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Definições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59807C-7E2C-1FDF-5949-ABFA6F258187}"/>
              </a:ext>
            </a:extLst>
          </p:cNvPr>
          <p:cNvSpPr txBox="1"/>
          <p:nvPr/>
        </p:nvSpPr>
        <p:spPr>
          <a:xfrm>
            <a:off x="327251" y="4417542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Perfil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3D417-0D0C-9EB3-5D0D-523B55502598}"/>
              </a:ext>
            </a:extLst>
          </p:cNvPr>
          <p:cNvSpPr txBox="1"/>
          <p:nvPr/>
        </p:nvSpPr>
        <p:spPr>
          <a:xfrm>
            <a:off x="327251" y="4694902"/>
            <a:ext cx="12453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Notificações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05DD8E-F744-6DCE-2052-DD685DFAAB86}"/>
              </a:ext>
            </a:extLst>
          </p:cNvPr>
          <p:cNvSpPr/>
          <p:nvPr/>
        </p:nvSpPr>
        <p:spPr>
          <a:xfrm>
            <a:off x="0" y="6441856"/>
            <a:ext cx="12192000" cy="431470"/>
          </a:xfrm>
          <a:prstGeom prst="roundRect">
            <a:avLst/>
          </a:prstGeom>
          <a:solidFill>
            <a:srgbClr val="3A436A"/>
          </a:soli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2DF3DC-CC61-7B4C-924C-75F52D791820}"/>
              </a:ext>
            </a:extLst>
          </p:cNvPr>
          <p:cNvSpPr txBox="1"/>
          <p:nvPr/>
        </p:nvSpPr>
        <p:spPr>
          <a:xfrm>
            <a:off x="5401056" y="6519091"/>
            <a:ext cx="13898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Copyright ⓒ 2025</a:t>
            </a:r>
          </a:p>
        </p:txBody>
      </p:sp>
      <p:pic>
        <p:nvPicPr>
          <p:cNvPr id="12" name="Picture 2" descr="Joker - RTP">
            <a:extLst>
              <a:ext uri="{FF2B5EF4-FFF2-40B4-BE49-F238E27FC236}">
                <a16:creationId xmlns:a16="http://schemas.microsoft.com/office/drawing/2014/main" id="{D9B63CB2-20C3-2BB8-8D7F-0064DD122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442" y="6532498"/>
            <a:ext cx="661416" cy="25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phic 15" descr="Single gear with solid fill">
            <a:extLst>
              <a:ext uri="{FF2B5EF4-FFF2-40B4-BE49-F238E27FC236}">
                <a16:creationId xmlns:a16="http://schemas.microsoft.com/office/drawing/2014/main" id="{760335B9-32A1-A574-C454-4F648A26EA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84048" y="337609"/>
            <a:ext cx="313379" cy="313379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9885F26-3EEF-CF10-389F-722CDA5650CF}"/>
              </a:ext>
            </a:extLst>
          </p:cNvPr>
          <p:cNvGrpSpPr/>
          <p:nvPr/>
        </p:nvGrpSpPr>
        <p:grpSpPr>
          <a:xfrm>
            <a:off x="2289875" y="340183"/>
            <a:ext cx="6992663" cy="308229"/>
            <a:chOff x="2460317" y="285212"/>
            <a:chExt cx="6992663" cy="30822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7CD70CB-8710-19DA-0B3B-0C649CDF0845}"/>
                </a:ext>
              </a:extLst>
            </p:cNvPr>
            <p:cNvGrpSpPr/>
            <p:nvPr/>
          </p:nvGrpSpPr>
          <p:grpSpPr>
            <a:xfrm>
              <a:off x="2460317" y="288115"/>
              <a:ext cx="6992663" cy="305326"/>
              <a:chOff x="2460317" y="288115"/>
              <a:chExt cx="6992663" cy="305326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7D0419B-DF95-0B4B-B6DD-1FB4F2A0C3BF}"/>
                  </a:ext>
                </a:extLst>
              </p:cNvPr>
              <p:cNvSpPr/>
              <p:nvPr/>
            </p:nvSpPr>
            <p:spPr>
              <a:xfrm>
                <a:off x="2460317" y="288115"/>
                <a:ext cx="6992663" cy="305326"/>
              </a:xfrm>
              <a:prstGeom prst="roundRect">
                <a:avLst/>
              </a:prstGeom>
              <a:solidFill>
                <a:srgbClr val="3A436A"/>
              </a:solidFill>
              <a:ln>
                <a:solidFill>
                  <a:srgbClr val="3A43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E9A9E53-CA4D-0AB3-C4B6-31500F526B39}"/>
                  </a:ext>
                </a:extLst>
              </p:cNvPr>
              <p:cNvSpPr txBox="1"/>
              <p:nvPr/>
            </p:nvSpPr>
            <p:spPr>
              <a:xfrm>
                <a:off x="3062646" y="303609"/>
                <a:ext cx="18287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rgbClr val="D8D9E1"/>
                    </a:solidFill>
                  </a:rPr>
                  <a:t>Pesquisa…</a:t>
                </a:r>
              </a:p>
            </p:txBody>
          </p:sp>
        </p:grpSp>
        <p:pic>
          <p:nvPicPr>
            <p:cNvPr id="9" name="Graphic 8" descr="Magnifying glass with solid fill">
              <a:extLst>
                <a:ext uri="{FF2B5EF4-FFF2-40B4-BE49-F238E27FC236}">
                  <a16:creationId xmlns:a16="http://schemas.microsoft.com/office/drawing/2014/main" id="{DC9B3F8E-56B4-4161-425F-906E0CB05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93493" y="311672"/>
              <a:ext cx="267154" cy="267154"/>
            </a:xfrm>
            <a:prstGeom prst="rect">
              <a:avLst/>
            </a:prstGeom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3451C2F-90C3-2A8F-DCFE-B9886C313F98}"/>
                </a:ext>
              </a:extLst>
            </p:cNvPr>
            <p:cNvCxnSpPr>
              <a:cxnSpLocks/>
            </p:cNvCxnSpPr>
            <p:nvPr/>
          </p:nvCxnSpPr>
          <p:spPr>
            <a:xfrm>
              <a:off x="3019611" y="285212"/>
              <a:ext cx="0" cy="308229"/>
            </a:xfrm>
            <a:prstGeom prst="line">
              <a:avLst/>
            </a:prstGeom>
            <a:ln>
              <a:solidFill>
                <a:srgbClr val="D2B7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0281032-7175-68E0-00E6-05EC8FFFCF4B}"/>
              </a:ext>
            </a:extLst>
          </p:cNvPr>
          <p:cNvSpPr txBox="1"/>
          <p:nvPr/>
        </p:nvSpPr>
        <p:spPr>
          <a:xfrm>
            <a:off x="530347" y="2649873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Geral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EBE14F-E2CB-7AB3-325B-FCD73C46EE43}"/>
              </a:ext>
            </a:extLst>
          </p:cNvPr>
          <p:cNvSpPr txBox="1"/>
          <p:nvPr/>
        </p:nvSpPr>
        <p:spPr>
          <a:xfrm>
            <a:off x="530347" y="2903362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Semanal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F5122DC-1DFD-6B57-AA62-9E04DFD8F0C6}"/>
              </a:ext>
            </a:extLst>
          </p:cNvPr>
          <p:cNvCxnSpPr>
            <a:cxnSpLocks/>
          </p:cNvCxnSpPr>
          <p:nvPr/>
        </p:nvCxnSpPr>
        <p:spPr>
          <a:xfrm flipH="1">
            <a:off x="369825" y="4297965"/>
            <a:ext cx="1564317" cy="4451"/>
          </a:xfrm>
          <a:prstGeom prst="line">
            <a:avLst/>
          </a:prstGeom>
          <a:ln>
            <a:solidFill>
              <a:srgbClr val="D2B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436A95A-D2C3-7FA7-7F04-D63E6459E7B2}"/>
              </a:ext>
            </a:extLst>
          </p:cNvPr>
          <p:cNvSpPr/>
          <p:nvPr/>
        </p:nvSpPr>
        <p:spPr>
          <a:xfrm>
            <a:off x="8281368" y="4548640"/>
            <a:ext cx="1609805" cy="578956"/>
          </a:xfrm>
          <a:prstGeom prst="roundRect">
            <a:avLst/>
          </a:prstGeom>
          <a:solidFill>
            <a:srgbClr val="D2B763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rgbClr val="3A436A"/>
                </a:solidFill>
              </a:rPr>
              <a:t>2,5 </a:t>
            </a:r>
          </a:p>
          <a:p>
            <a:pPr algn="ctr"/>
            <a:r>
              <a:rPr lang="pt-PT" sz="1200" dirty="0">
                <a:solidFill>
                  <a:srgbClr val="3A436A"/>
                </a:solidFill>
              </a:rPr>
              <a:t>acertos por semana</a:t>
            </a:r>
            <a:endParaRPr lang="pt-PT" dirty="0">
              <a:solidFill>
                <a:srgbClr val="3A436A"/>
              </a:solidFill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54343016-7481-EA59-6B44-131C230989CF}"/>
              </a:ext>
            </a:extLst>
          </p:cNvPr>
          <p:cNvSpPr txBox="1"/>
          <p:nvPr/>
        </p:nvSpPr>
        <p:spPr>
          <a:xfrm>
            <a:off x="8194951" y="4145832"/>
            <a:ext cx="17826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As minhas estatísticas: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A5AA4350-3629-15CF-FFE9-6CF651C4BCD3}"/>
              </a:ext>
            </a:extLst>
          </p:cNvPr>
          <p:cNvSpPr txBox="1"/>
          <p:nvPr/>
        </p:nvSpPr>
        <p:spPr>
          <a:xfrm>
            <a:off x="258862" y="3206039"/>
            <a:ext cx="1286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Estatísticas  </a:t>
            </a:r>
            <a:r>
              <a:rPr lang="pt-PT" sz="1050" dirty="0">
                <a:solidFill>
                  <a:srgbClr val="D8D9E1"/>
                </a:solidFill>
              </a:rPr>
              <a:t>▶</a:t>
            </a:r>
            <a:endParaRPr lang="pt-PT" sz="1400" b="1" dirty="0">
              <a:solidFill>
                <a:srgbClr val="D8D9E1"/>
              </a:solidFill>
            </a:endParaRPr>
          </a:p>
        </p:txBody>
      </p:sp>
      <p:sp>
        <p:nvSpPr>
          <p:cNvPr id="1039" name="Rectangle: Rounded Corners 1038">
            <a:extLst>
              <a:ext uri="{FF2B5EF4-FFF2-40B4-BE49-F238E27FC236}">
                <a16:creationId xmlns:a16="http://schemas.microsoft.com/office/drawing/2014/main" id="{3997FE58-A3F6-594D-F5C8-6D573C6B259B}"/>
              </a:ext>
            </a:extLst>
          </p:cNvPr>
          <p:cNvSpPr/>
          <p:nvPr/>
        </p:nvSpPr>
        <p:spPr>
          <a:xfrm>
            <a:off x="8281368" y="5231399"/>
            <a:ext cx="1609805" cy="578956"/>
          </a:xfrm>
          <a:prstGeom prst="roundRect">
            <a:avLst/>
          </a:prstGeom>
          <a:solidFill>
            <a:srgbClr val="D2B763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rgbClr val="3A436A"/>
                </a:solidFill>
              </a:rPr>
              <a:t>20 / 30</a:t>
            </a:r>
          </a:p>
          <a:p>
            <a:pPr algn="ctr"/>
            <a:r>
              <a:rPr lang="pt-PT" sz="1200" dirty="0">
                <a:solidFill>
                  <a:srgbClr val="3A436A"/>
                </a:solidFill>
              </a:rPr>
              <a:t>acertos no total</a:t>
            </a:r>
            <a:endParaRPr lang="pt-PT" dirty="0">
              <a:solidFill>
                <a:srgbClr val="3A436A"/>
              </a:solidFill>
            </a:endParaRP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60E2677F-D33D-F1F2-444A-F386C3766C7E}"/>
              </a:ext>
            </a:extLst>
          </p:cNvPr>
          <p:cNvSpPr txBox="1"/>
          <p:nvPr/>
        </p:nvSpPr>
        <p:spPr>
          <a:xfrm>
            <a:off x="8710372" y="5885881"/>
            <a:ext cx="7517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Ver mais</a:t>
            </a:r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87831176-DCBE-6771-9519-D4326BF84B4A}"/>
              </a:ext>
            </a:extLst>
          </p:cNvPr>
          <p:cNvCxnSpPr>
            <a:cxnSpLocks/>
          </p:cNvCxnSpPr>
          <p:nvPr/>
        </p:nvCxnSpPr>
        <p:spPr>
          <a:xfrm flipH="1">
            <a:off x="8776963" y="6119260"/>
            <a:ext cx="615686" cy="0"/>
          </a:xfrm>
          <a:prstGeom prst="line">
            <a:avLst/>
          </a:prstGeom>
          <a:ln>
            <a:solidFill>
              <a:srgbClr val="D2B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TextBox 1042">
            <a:extLst>
              <a:ext uri="{FF2B5EF4-FFF2-40B4-BE49-F238E27FC236}">
                <a16:creationId xmlns:a16="http://schemas.microsoft.com/office/drawing/2014/main" id="{D0676C4F-B8E3-A3AD-CBBD-0067271079BC}"/>
              </a:ext>
            </a:extLst>
          </p:cNvPr>
          <p:cNvSpPr txBox="1"/>
          <p:nvPr/>
        </p:nvSpPr>
        <p:spPr>
          <a:xfrm>
            <a:off x="10081850" y="4159465"/>
            <a:ext cx="14215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Estatísticas gerais:</a:t>
            </a:r>
          </a:p>
        </p:txBody>
      </p:sp>
      <p:sp>
        <p:nvSpPr>
          <p:cNvPr id="1044" name="Rectangle: Rounded Corners 1043">
            <a:extLst>
              <a:ext uri="{FF2B5EF4-FFF2-40B4-BE49-F238E27FC236}">
                <a16:creationId xmlns:a16="http://schemas.microsoft.com/office/drawing/2014/main" id="{0EE35A1B-2296-2518-D48F-9F2D0398B555}"/>
              </a:ext>
            </a:extLst>
          </p:cNvPr>
          <p:cNvSpPr/>
          <p:nvPr/>
        </p:nvSpPr>
        <p:spPr>
          <a:xfrm>
            <a:off x="10081850" y="4566037"/>
            <a:ext cx="1609805" cy="578956"/>
          </a:xfrm>
          <a:prstGeom prst="roundRect">
            <a:avLst/>
          </a:prstGeom>
          <a:solidFill>
            <a:srgbClr val="D2B763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rgbClr val="3A436A"/>
                </a:solidFill>
              </a:rPr>
              <a:t>200€ </a:t>
            </a:r>
          </a:p>
          <a:p>
            <a:pPr algn="ctr"/>
            <a:r>
              <a:rPr lang="pt-PT" sz="1200" dirty="0">
                <a:solidFill>
                  <a:srgbClr val="3A436A"/>
                </a:solidFill>
              </a:rPr>
              <a:t>resultado mais frequente</a:t>
            </a:r>
            <a:endParaRPr lang="pt-PT" dirty="0">
              <a:solidFill>
                <a:srgbClr val="3A436A"/>
              </a:solidFill>
            </a:endParaRPr>
          </a:p>
        </p:txBody>
      </p:sp>
      <p:sp>
        <p:nvSpPr>
          <p:cNvPr id="1045" name="Rectangle: Rounded Corners 1044">
            <a:extLst>
              <a:ext uri="{FF2B5EF4-FFF2-40B4-BE49-F238E27FC236}">
                <a16:creationId xmlns:a16="http://schemas.microsoft.com/office/drawing/2014/main" id="{A11185E2-18D5-175D-C577-060A1204A8F1}"/>
              </a:ext>
            </a:extLst>
          </p:cNvPr>
          <p:cNvSpPr/>
          <p:nvPr/>
        </p:nvSpPr>
        <p:spPr>
          <a:xfrm>
            <a:off x="10123683" y="5267841"/>
            <a:ext cx="1609805" cy="578956"/>
          </a:xfrm>
          <a:prstGeom prst="roundRect">
            <a:avLst/>
          </a:prstGeom>
          <a:solidFill>
            <a:srgbClr val="D2B763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b="1" dirty="0">
                <a:solidFill>
                  <a:srgbClr val="3A436A"/>
                </a:solidFill>
              </a:rPr>
              <a:t>Mais </a:t>
            </a:r>
            <a:r>
              <a:rPr lang="pt-PT" b="1" dirty="0" err="1">
                <a:solidFill>
                  <a:srgbClr val="3A436A"/>
                </a:solidFill>
              </a:rPr>
              <a:t>qq</a:t>
            </a:r>
            <a:r>
              <a:rPr lang="pt-PT" b="1" dirty="0">
                <a:solidFill>
                  <a:srgbClr val="3A436A"/>
                </a:solidFill>
              </a:rPr>
              <a:t> coisa</a:t>
            </a:r>
            <a:endParaRPr lang="pt-PT" dirty="0">
              <a:solidFill>
                <a:srgbClr val="3A436A"/>
              </a:solidFill>
            </a:endParaRP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404DEE7-9846-1892-2257-CA1F393FBF04}"/>
              </a:ext>
            </a:extLst>
          </p:cNvPr>
          <p:cNvSpPr txBox="1"/>
          <p:nvPr/>
        </p:nvSpPr>
        <p:spPr>
          <a:xfrm>
            <a:off x="10584048" y="5898944"/>
            <a:ext cx="7517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Ver mais</a:t>
            </a: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F1855F0C-7645-02C0-1240-D3706916EF01}"/>
              </a:ext>
            </a:extLst>
          </p:cNvPr>
          <p:cNvCxnSpPr>
            <a:cxnSpLocks/>
          </p:cNvCxnSpPr>
          <p:nvPr/>
        </p:nvCxnSpPr>
        <p:spPr>
          <a:xfrm flipH="1">
            <a:off x="10650639" y="6132323"/>
            <a:ext cx="615686" cy="0"/>
          </a:xfrm>
          <a:prstGeom prst="line">
            <a:avLst/>
          </a:prstGeom>
          <a:ln>
            <a:solidFill>
              <a:srgbClr val="D2B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1" name="TextBox 1050">
            <a:extLst>
              <a:ext uri="{FF2B5EF4-FFF2-40B4-BE49-F238E27FC236}">
                <a16:creationId xmlns:a16="http://schemas.microsoft.com/office/drawing/2014/main" id="{470C4D43-1F30-BE77-F9E4-339BB9889CFF}"/>
              </a:ext>
            </a:extLst>
          </p:cNvPr>
          <p:cNvSpPr txBox="1"/>
          <p:nvPr/>
        </p:nvSpPr>
        <p:spPr>
          <a:xfrm>
            <a:off x="2887749" y="1244958"/>
            <a:ext cx="1902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000" b="1" dirty="0">
                <a:solidFill>
                  <a:srgbClr val="3A436A"/>
                </a:solidFill>
              </a:rPr>
              <a:t>Olá, Joanita !</a:t>
            </a:r>
          </a:p>
        </p:txBody>
      </p:sp>
      <p:sp>
        <p:nvSpPr>
          <p:cNvPr id="1063" name="Rectangle: Rounded Corners 1062">
            <a:extLst>
              <a:ext uri="{FF2B5EF4-FFF2-40B4-BE49-F238E27FC236}">
                <a16:creationId xmlns:a16="http://schemas.microsoft.com/office/drawing/2014/main" id="{32A65DAD-A974-4462-AE8F-6F5205125BAE}"/>
              </a:ext>
            </a:extLst>
          </p:cNvPr>
          <p:cNvSpPr/>
          <p:nvPr/>
        </p:nvSpPr>
        <p:spPr>
          <a:xfrm>
            <a:off x="2365019" y="3548010"/>
            <a:ext cx="5456905" cy="2705006"/>
          </a:xfrm>
          <a:prstGeom prst="roundRect">
            <a:avLst/>
          </a:prstGeom>
          <a:solidFill>
            <a:srgbClr val="3A436A"/>
          </a:soli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600" dirty="0">
              <a:solidFill>
                <a:srgbClr val="D8D9E1"/>
              </a:solidFill>
            </a:endParaRP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17E1563A-4384-C77E-4E85-4E8E172FE4B3}"/>
              </a:ext>
            </a:extLst>
          </p:cNvPr>
          <p:cNvSpPr txBox="1"/>
          <p:nvPr/>
        </p:nvSpPr>
        <p:spPr>
          <a:xfrm>
            <a:off x="4390265" y="3655133"/>
            <a:ext cx="1275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1" dirty="0">
                <a:solidFill>
                  <a:srgbClr val="D8D9E1"/>
                </a:solidFill>
              </a:rPr>
              <a:t>Concursos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879C92CE-505B-15E3-3DF0-B54D9309178E}"/>
              </a:ext>
            </a:extLst>
          </p:cNvPr>
          <p:cNvSpPr txBox="1"/>
          <p:nvPr/>
        </p:nvSpPr>
        <p:spPr>
          <a:xfrm>
            <a:off x="2569064" y="4209866"/>
            <a:ext cx="634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>
                <a:solidFill>
                  <a:srgbClr val="D8D9E1"/>
                </a:solidFill>
              </a:rPr>
              <a:t>Título</a:t>
            </a:r>
            <a:endParaRPr lang="pt-PT" sz="1600" b="1" dirty="0">
              <a:solidFill>
                <a:srgbClr val="D8D9E1"/>
              </a:solidFill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E8468CFD-FDE1-C6A5-76C3-3D6040B9EA7C}"/>
              </a:ext>
            </a:extLst>
          </p:cNvPr>
          <p:cNvSpPr txBox="1"/>
          <p:nvPr/>
        </p:nvSpPr>
        <p:spPr>
          <a:xfrm>
            <a:off x="5114985" y="4215672"/>
            <a:ext cx="11870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>
                <a:solidFill>
                  <a:srgbClr val="D8D9E1"/>
                </a:solidFill>
              </a:rPr>
              <a:t>Resultado (€)</a:t>
            </a:r>
            <a:endParaRPr lang="pt-PT" sz="1600" b="1" dirty="0">
              <a:solidFill>
                <a:srgbClr val="D8D9E1"/>
              </a:solidFill>
            </a:endParaRP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F8BDA166-2342-4683-F37E-4A3C27FE2FAD}"/>
              </a:ext>
            </a:extLst>
          </p:cNvPr>
          <p:cNvSpPr txBox="1"/>
          <p:nvPr/>
        </p:nvSpPr>
        <p:spPr>
          <a:xfrm>
            <a:off x="2566058" y="4653945"/>
            <a:ext cx="6708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Joker 1</a:t>
            </a:r>
            <a:endParaRPr lang="pt-PT" sz="1600" dirty="0">
              <a:solidFill>
                <a:srgbClr val="D8D9E1"/>
              </a:solidFill>
            </a:endParaRP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040D731E-1C48-2526-5961-2DF8D40EA6F7}"/>
              </a:ext>
            </a:extLst>
          </p:cNvPr>
          <p:cNvSpPr txBox="1"/>
          <p:nvPr/>
        </p:nvSpPr>
        <p:spPr>
          <a:xfrm>
            <a:off x="2566059" y="5025226"/>
            <a:ext cx="67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Joker 2</a:t>
            </a:r>
            <a:endParaRPr lang="pt-PT" sz="1600" dirty="0">
              <a:solidFill>
                <a:srgbClr val="D8D9E1"/>
              </a:solidFill>
            </a:endParaRP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77912B29-8449-F8AF-506D-7D11110C8396}"/>
              </a:ext>
            </a:extLst>
          </p:cNvPr>
          <p:cNvSpPr txBox="1"/>
          <p:nvPr/>
        </p:nvSpPr>
        <p:spPr>
          <a:xfrm>
            <a:off x="2566058" y="5395477"/>
            <a:ext cx="67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Joker 3</a:t>
            </a:r>
            <a:endParaRPr lang="pt-PT" sz="1600" dirty="0">
              <a:solidFill>
                <a:srgbClr val="D8D9E1"/>
              </a:solidFill>
            </a:endParaRP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462BC58E-B598-ADD4-7736-52F5236FBDBE}"/>
              </a:ext>
            </a:extLst>
          </p:cNvPr>
          <p:cNvSpPr txBox="1"/>
          <p:nvPr/>
        </p:nvSpPr>
        <p:spPr>
          <a:xfrm>
            <a:off x="6881533" y="4203190"/>
            <a:ext cx="634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>
                <a:solidFill>
                  <a:srgbClr val="D8D9E1"/>
                </a:solidFill>
              </a:rPr>
              <a:t>Data</a:t>
            </a:r>
            <a:endParaRPr lang="pt-PT" sz="1600" b="1" dirty="0">
              <a:solidFill>
                <a:srgbClr val="D8D9E1"/>
              </a:solidFill>
            </a:endParaRP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95F6571A-F639-078F-5C7C-4296C7607590}"/>
              </a:ext>
            </a:extLst>
          </p:cNvPr>
          <p:cNvSpPr txBox="1"/>
          <p:nvPr/>
        </p:nvSpPr>
        <p:spPr>
          <a:xfrm>
            <a:off x="4876574" y="4650101"/>
            <a:ext cx="16880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A decorrer programa…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B2BE604D-DEB4-2464-3101-35B4360355A9}"/>
              </a:ext>
            </a:extLst>
          </p:cNvPr>
          <p:cNvSpPr txBox="1"/>
          <p:nvPr/>
        </p:nvSpPr>
        <p:spPr>
          <a:xfrm>
            <a:off x="3656238" y="5059404"/>
            <a:ext cx="795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Joãozito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87CF538-02E9-C710-DBF5-6DAF104F5CCB}"/>
              </a:ext>
            </a:extLst>
          </p:cNvPr>
          <p:cNvSpPr txBox="1"/>
          <p:nvPr/>
        </p:nvSpPr>
        <p:spPr>
          <a:xfrm>
            <a:off x="3475221" y="4209866"/>
            <a:ext cx="16182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>
                <a:solidFill>
                  <a:srgbClr val="D8D9E1"/>
                </a:solidFill>
              </a:rPr>
              <a:t>Nome concorrente</a:t>
            </a:r>
            <a:endParaRPr lang="pt-PT" sz="1600" b="1" dirty="0">
              <a:solidFill>
                <a:srgbClr val="D8D9E1"/>
              </a:solidFill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882E4FF7-BCB7-460F-7682-9547A57D3784}"/>
              </a:ext>
            </a:extLst>
          </p:cNvPr>
          <p:cNvSpPr txBox="1"/>
          <p:nvPr/>
        </p:nvSpPr>
        <p:spPr>
          <a:xfrm>
            <a:off x="3656238" y="5364623"/>
            <a:ext cx="795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Mariazita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ED2402D6-FC5C-BD96-8613-DF1CF66C5F73}"/>
              </a:ext>
            </a:extLst>
          </p:cNvPr>
          <p:cNvSpPr txBox="1"/>
          <p:nvPr/>
        </p:nvSpPr>
        <p:spPr>
          <a:xfrm>
            <a:off x="3663629" y="4674125"/>
            <a:ext cx="795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Joanita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19D0BECD-A306-E47D-B6D7-5154FBBE73C7}"/>
              </a:ext>
            </a:extLst>
          </p:cNvPr>
          <p:cNvSpPr txBox="1"/>
          <p:nvPr/>
        </p:nvSpPr>
        <p:spPr>
          <a:xfrm>
            <a:off x="5350411" y="5024374"/>
            <a:ext cx="630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200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39676654-CB61-66DD-8900-CB8990BF9D7A}"/>
              </a:ext>
            </a:extLst>
          </p:cNvPr>
          <p:cNvSpPr txBox="1"/>
          <p:nvPr/>
        </p:nvSpPr>
        <p:spPr>
          <a:xfrm>
            <a:off x="6881533" y="4650101"/>
            <a:ext cx="520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Hoje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7CE9E215-B40D-7FCA-52CD-19B22364D479}"/>
              </a:ext>
            </a:extLst>
          </p:cNvPr>
          <p:cNvSpPr txBox="1"/>
          <p:nvPr/>
        </p:nvSpPr>
        <p:spPr>
          <a:xfrm>
            <a:off x="5393345" y="5395477"/>
            <a:ext cx="630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200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68865A1-8899-6531-54A4-4F6C6BA733F1}"/>
              </a:ext>
            </a:extLst>
          </p:cNvPr>
          <p:cNvSpPr txBox="1"/>
          <p:nvPr/>
        </p:nvSpPr>
        <p:spPr>
          <a:xfrm>
            <a:off x="6879832" y="4977438"/>
            <a:ext cx="520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Hoje</a:t>
            </a:r>
          </a:p>
        </p:txBody>
      </p:sp>
    </p:spTree>
    <p:extLst>
      <p:ext uri="{BB962C8B-B14F-4D97-AF65-F5344CB8AC3E}">
        <p14:creationId xmlns:p14="http://schemas.microsoft.com/office/powerpoint/2010/main" val="636180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FE9F8-7978-53DB-3A23-F70BDAE9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Rectangle: Rounded Corners 1067">
            <a:extLst>
              <a:ext uri="{FF2B5EF4-FFF2-40B4-BE49-F238E27FC236}">
                <a16:creationId xmlns:a16="http://schemas.microsoft.com/office/drawing/2014/main" id="{E13A26C0-4955-6241-9466-AB9BE278F998}"/>
              </a:ext>
            </a:extLst>
          </p:cNvPr>
          <p:cNvSpPr/>
          <p:nvPr/>
        </p:nvSpPr>
        <p:spPr>
          <a:xfrm>
            <a:off x="174614" y="952771"/>
            <a:ext cx="2004526" cy="5300245"/>
          </a:xfrm>
          <a:prstGeom prst="roundRect">
            <a:avLst/>
          </a:prstGeom>
          <a:solidFill>
            <a:srgbClr val="3A436A"/>
          </a:soli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1027" name="Rectangle: Rounded Corners 1026">
            <a:extLst>
              <a:ext uri="{FF2B5EF4-FFF2-40B4-BE49-F238E27FC236}">
                <a16:creationId xmlns:a16="http://schemas.microsoft.com/office/drawing/2014/main" id="{FC8B7300-411C-05E1-F7F7-17FAC1F5B016}"/>
              </a:ext>
            </a:extLst>
          </p:cNvPr>
          <p:cNvSpPr/>
          <p:nvPr/>
        </p:nvSpPr>
        <p:spPr>
          <a:xfrm>
            <a:off x="2289874" y="952772"/>
            <a:ext cx="9683983" cy="5300244"/>
          </a:xfrm>
          <a:prstGeom prst="roundRect">
            <a:avLst/>
          </a:prstGeom>
          <a:gradFill flip="none" rotWithShape="1">
            <a:gsLst>
              <a:gs pos="0">
                <a:srgbClr val="3A436A">
                  <a:tint val="66000"/>
                  <a:satMod val="160000"/>
                </a:srgbClr>
              </a:gs>
              <a:gs pos="50000">
                <a:srgbClr val="3A436A">
                  <a:tint val="44500"/>
                  <a:satMod val="160000"/>
                </a:srgbClr>
              </a:gs>
              <a:gs pos="100000">
                <a:srgbClr val="3A436A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pic>
        <p:nvPicPr>
          <p:cNvPr id="1026" name="Picture 2" descr="Joker - RTP">
            <a:extLst>
              <a:ext uri="{FF2B5EF4-FFF2-40B4-BE49-F238E27FC236}">
                <a16:creationId xmlns:a16="http://schemas.microsoft.com/office/drawing/2014/main" id="{F5EC8A55-AB13-42C6-5E3A-5479E4247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23" y="231681"/>
            <a:ext cx="1334672" cy="50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Ringer with solid fill">
            <a:extLst>
              <a:ext uri="{FF2B5EF4-FFF2-40B4-BE49-F238E27FC236}">
                <a16:creationId xmlns:a16="http://schemas.microsoft.com/office/drawing/2014/main" id="{6A4836D8-E164-F645-86D5-3CCAB9436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7611" y="337609"/>
            <a:ext cx="313379" cy="313379"/>
          </a:xfrm>
          <a:prstGeom prst="rect">
            <a:avLst/>
          </a:prstGeom>
        </p:spPr>
      </p:pic>
      <p:pic>
        <p:nvPicPr>
          <p:cNvPr id="15" name="Graphic 14" descr="Help with solid fill">
            <a:extLst>
              <a:ext uri="{FF2B5EF4-FFF2-40B4-BE49-F238E27FC236}">
                <a16:creationId xmlns:a16="http://schemas.microsoft.com/office/drawing/2014/main" id="{DAF1A099-9F73-5F10-E616-068C650F00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91174" y="337610"/>
            <a:ext cx="313379" cy="31337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FF7A1F4-5459-E679-F302-FB2FAD0A1C50}"/>
              </a:ext>
            </a:extLst>
          </p:cNvPr>
          <p:cNvGrpSpPr/>
          <p:nvPr/>
        </p:nvGrpSpPr>
        <p:grpSpPr>
          <a:xfrm>
            <a:off x="11226237" y="309488"/>
            <a:ext cx="367100" cy="338065"/>
            <a:chOff x="10983045" y="226736"/>
            <a:chExt cx="462488" cy="425909"/>
          </a:xfrm>
        </p:grpSpPr>
        <p:pic>
          <p:nvPicPr>
            <p:cNvPr id="32" name="Graphic 31" descr="Office worker male with solid fill">
              <a:extLst>
                <a:ext uri="{FF2B5EF4-FFF2-40B4-BE49-F238E27FC236}">
                  <a16:creationId xmlns:a16="http://schemas.microsoft.com/office/drawing/2014/main" id="{E7BE67DC-929C-3152-C410-DEF7FAC21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005311" y="226737"/>
              <a:ext cx="394808" cy="394808"/>
            </a:xfrm>
            <a:prstGeom prst="rect">
              <a:avLst/>
            </a:prstGeom>
          </p:spPr>
        </p:pic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75DDFAC-CE3E-3AEB-D722-E205BC65AF9F}"/>
                </a:ext>
              </a:extLst>
            </p:cNvPr>
            <p:cNvSpPr/>
            <p:nvPr/>
          </p:nvSpPr>
          <p:spPr>
            <a:xfrm>
              <a:off x="10983045" y="226736"/>
              <a:ext cx="462488" cy="425909"/>
            </a:xfrm>
            <a:prstGeom prst="ellipse">
              <a:avLst/>
            </a:prstGeom>
            <a:noFill/>
            <a:ln>
              <a:solidFill>
                <a:srgbClr val="3A43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AFCD48A-A4AB-11C6-2C5D-D927DC0D2BA9}"/>
              </a:ext>
            </a:extLst>
          </p:cNvPr>
          <p:cNvSpPr txBox="1"/>
          <p:nvPr/>
        </p:nvSpPr>
        <p:spPr>
          <a:xfrm>
            <a:off x="286089" y="2011357"/>
            <a:ext cx="1865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Apostas Comunidade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EDC93F-EB84-1D1D-B706-30854AE32A3F}"/>
              </a:ext>
            </a:extLst>
          </p:cNvPr>
          <p:cNvSpPr txBox="1"/>
          <p:nvPr/>
        </p:nvSpPr>
        <p:spPr>
          <a:xfrm>
            <a:off x="286089" y="2371067"/>
            <a:ext cx="1286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Ranking  </a:t>
            </a:r>
            <a:r>
              <a:rPr lang="pt-PT" sz="1050" dirty="0">
                <a:solidFill>
                  <a:srgbClr val="D8D9E1"/>
                </a:solidFill>
              </a:rPr>
              <a:t>▼</a:t>
            </a:r>
            <a:endParaRPr lang="pt-PT" sz="1400" b="1" dirty="0">
              <a:solidFill>
                <a:srgbClr val="D8D9E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866FF0-EB53-F284-DFE6-027C7E5277F6}"/>
              </a:ext>
            </a:extLst>
          </p:cNvPr>
          <p:cNvSpPr txBox="1"/>
          <p:nvPr/>
        </p:nvSpPr>
        <p:spPr>
          <a:xfrm>
            <a:off x="291504" y="1271093"/>
            <a:ext cx="1171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b="1" u="sng" dirty="0">
                <a:solidFill>
                  <a:srgbClr val="D2B763"/>
                </a:solidFill>
              </a:rPr>
              <a:t>Concursos</a:t>
            </a:r>
            <a:endParaRPr lang="pt-PT" b="1" u="sng" dirty="0">
              <a:solidFill>
                <a:srgbClr val="D2B763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0D799B-78FC-AFAA-9F03-3D419389B72C}"/>
              </a:ext>
            </a:extLst>
          </p:cNvPr>
          <p:cNvSpPr txBox="1"/>
          <p:nvPr/>
        </p:nvSpPr>
        <p:spPr>
          <a:xfrm>
            <a:off x="288169" y="1630120"/>
            <a:ext cx="15668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Minhas Apostas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C6701-232E-6648-5334-54D8275CB89B}"/>
              </a:ext>
            </a:extLst>
          </p:cNvPr>
          <p:cNvSpPr txBox="1"/>
          <p:nvPr/>
        </p:nvSpPr>
        <p:spPr>
          <a:xfrm>
            <a:off x="327251" y="5279130"/>
            <a:ext cx="519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FAQ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8DDD8-D682-7CD1-E0A7-3BF508CE110A}"/>
              </a:ext>
            </a:extLst>
          </p:cNvPr>
          <p:cNvSpPr txBox="1"/>
          <p:nvPr/>
        </p:nvSpPr>
        <p:spPr>
          <a:xfrm>
            <a:off x="325231" y="4973708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Definições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895A7-0794-BF19-59D2-48A5F72B7467}"/>
              </a:ext>
            </a:extLst>
          </p:cNvPr>
          <p:cNvSpPr txBox="1"/>
          <p:nvPr/>
        </p:nvSpPr>
        <p:spPr>
          <a:xfrm>
            <a:off x="327251" y="4417542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Perfil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236AB-C3A1-449B-CDC8-757FFE16C7C4}"/>
              </a:ext>
            </a:extLst>
          </p:cNvPr>
          <p:cNvSpPr txBox="1"/>
          <p:nvPr/>
        </p:nvSpPr>
        <p:spPr>
          <a:xfrm>
            <a:off x="327251" y="4694902"/>
            <a:ext cx="12453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Notificações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980A3F-97D4-D76D-BDCC-E4DD07C3CCD2}"/>
              </a:ext>
            </a:extLst>
          </p:cNvPr>
          <p:cNvSpPr/>
          <p:nvPr/>
        </p:nvSpPr>
        <p:spPr>
          <a:xfrm>
            <a:off x="0" y="6441856"/>
            <a:ext cx="12192000" cy="431470"/>
          </a:xfrm>
          <a:prstGeom prst="roundRect">
            <a:avLst/>
          </a:prstGeom>
          <a:solidFill>
            <a:srgbClr val="3A436A"/>
          </a:soli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60FD61-5D08-A7CE-BF7C-1C7EDEEF77EA}"/>
              </a:ext>
            </a:extLst>
          </p:cNvPr>
          <p:cNvSpPr txBox="1"/>
          <p:nvPr/>
        </p:nvSpPr>
        <p:spPr>
          <a:xfrm>
            <a:off x="5401056" y="6519091"/>
            <a:ext cx="13898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Copyright ⓒ 2025</a:t>
            </a:r>
          </a:p>
        </p:txBody>
      </p:sp>
      <p:pic>
        <p:nvPicPr>
          <p:cNvPr id="12" name="Picture 2" descr="Joker - RTP">
            <a:extLst>
              <a:ext uri="{FF2B5EF4-FFF2-40B4-BE49-F238E27FC236}">
                <a16:creationId xmlns:a16="http://schemas.microsoft.com/office/drawing/2014/main" id="{9367D0C7-E972-3670-7E6B-9ED8F0A54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442" y="6532498"/>
            <a:ext cx="661416" cy="25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phic 15" descr="Single gear with solid fill">
            <a:extLst>
              <a:ext uri="{FF2B5EF4-FFF2-40B4-BE49-F238E27FC236}">
                <a16:creationId xmlns:a16="http://schemas.microsoft.com/office/drawing/2014/main" id="{2D137911-30D1-0FB2-6567-B2B3966F30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84048" y="337609"/>
            <a:ext cx="313379" cy="3133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2D3AAD-8612-0716-48A5-A9707D218102}"/>
              </a:ext>
            </a:extLst>
          </p:cNvPr>
          <p:cNvSpPr txBox="1"/>
          <p:nvPr/>
        </p:nvSpPr>
        <p:spPr>
          <a:xfrm>
            <a:off x="530347" y="2649873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Geral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DFB9A2-0A7E-DB86-0536-F3720CAB2558}"/>
              </a:ext>
            </a:extLst>
          </p:cNvPr>
          <p:cNvSpPr txBox="1"/>
          <p:nvPr/>
        </p:nvSpPr>
        <p:spPr>
          <a:xfrm>
            <a:off x="530347" y="2903362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Semanal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F4CB029-55DD-4E81-B530-7640550DC6E6}"/>
              </a:ext>
            </a:extLst>
          </p:cNvPr>
          <p:cNvCxnSpPr>
            <a:cxnSpLocks/>
          </p:cNvCxnSpPr>
          <p:nvPr/>
        </p:nvCxnSpPr>
        <p:spPr>
          <a:xfrm flipH="1">
            <a:off x="369825" y="4297965"/>
            <a:ext cx="1564317" cy="4451"/>
          </a:xfrm>
          <a:prstGeom prst="line">
            <a:avLst/>
          </a:prstGeom>
          <a:ln>
            <a:solidFill>
              <a:srgbClr val="D2B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TextBox 1034">
            <a:extLst>
              <a:ext uri="{FF2B5EF4-FFF2-40B4-BE49-F238E27FC236}">
                <a16:creationId xmlns:a16="http://schemas.microsoft.com/office/drawing/2014/main" id="{6572DE63-462A-AB2E-BC20-B1A18BA92CC8}"/>
              </a:ext>
            </a:extLst>
          </p:cNvPr>
          <p:cNvSpPr txBox="1"/>
          <p:nvPr/>
        </p:nvSpPr>
        <p:spPr>
          <a:xfrm>
            <a:off x="2900009" y="1271093"/>
            <a:ext cx="14982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000" b="1" dirty="0">
                <a:solidFill>
                  <a:srgbClr val="3A436A"/>
                </a:solidFill>
              </a:rPr>
              <a:t>Concursos</a:t>
            </a:r>
            <a:endParaRPr lang="pt-PT" sz="2800" b="1" dirty="0">
              <a:solidFill>
                <a:srgbClr val="3A436A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2EBDA8B-8050-F37F-8DA4-864A3108FDB1}"/>
              </a:ext>
            </a:extLst>
          </p:cNvPr>
          <p:cNvGrpSpPr/>
          <p:nvPr/>
        </p:nvGrpSpPr>
        <p:grpSpPr>
          <a:xfrm>
            <a:off x="2289875" y="340183"/>
            <a:ext cx="6992663" cy="308229"/>
            <a:chOff x="2460317" y="285212"/>
            <a:chExt cx="6992663" cy="30822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48A21C-F98B-211E-2FEE-AE17CABCC914}"/>
                </a:ext>
              </a:extLst>
            </p:cNvPr>
            <p:cNvGrpSpPr/>
            <p:nvPr/>
          </p:nvGrpSpPr>
          <p:grpSpPr>
            <a:xfrm>
              <a:off x="2460317" y="288115"/>
              <a:ext cx="6992663" cy="305326"/>
              <a:chOff x="2460317" y="288115"/>
              <a:chExt cx="6992663" cy="305326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027D6F89-AC1D-DDEF-0B63-A2D00E034F77}"/>
                  </a:ext>
                </a:extLst>
              </p:cNvPr>
              <p:cNvSpPr/>
              <p:nvPr/>
            </p:nvSpPr>
            <p:spPr>
              <a:xfrm>
                <a:off x="2460317" y="288115"/>
                <a:ext cx="6992663" cy="305326"/>
              </a:xfrm>
              <a:prstGeom prst="roundRect">
                <a:avLst/>
              </a:prstGeom>
              <a:solidFill>
                <a:srgbClr val="3A436A"/>
              </a:solidFill>
              <a:ln>
                <a:solidFill>
                  <a:srgbClr val="3A43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F107B4-A097-3ECD-6634-E29D1E374659}"/>
                  </a:ext>
                </a:extLst>
              </p:cNvPr>
              <p:cNvSpPr txBox="1"/>
              <p:nvPr/>
            </p:nvSpPr>
            <p:spPr>
              <a:xfrm>
                <a:off x="3062646" y="303609"/>
                <a:ext cx="18287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rgbClr val="D8D9E1"/>
                    </a:solidFill>
                  </a:rPr>
                  <a:t>Pesquisa…</a:t>
                </a:r>
              </a:p>
            </p:txBody>
          </p:sp>
        </p:grpSp>
        <p:pic>
          <p:nvPicPr>
            <p:cNvPr id="21" name="Graphic 20" descr="Magnifying glass with solid fill">
              <a:extLst>
                <a:ext uri="{FF2B5EF4-FFF2-40B4-BE49-F238E27FC236}">
                  <a16:creationId xmlns:a16="http://schemas.microsoft.com/office/drawing/2014/main" id="{14327328-6916-62F6-FA97-31BF1B23D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93493" y="311672"/>
              <a:ext cx="267154" cy="267154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AFD9A5D-E6F9-B670-01AD-295F3968DA71}"/>
                </a:ext>
              </a:extLst>
            </p:cNvPr>
            <p:cNvCxnSpPr>
              <a:cxnSpLocks/>
            </p:cNvCxnSpPr>
            <p:nvPr/>
          </p:nvCxnSpPr>
          <p:spPr>
            <a:xfrm>
              <a:off x="3019611" y="285212"/>
              <a:ext cx="0" cy="308229"/>
            </a:xfrm>
            <a:prstGeom prst="line">
              <a:avLst/>
            </a:prstGeom>
            <a:ln>
              <a:solidFill>
                <a:srgbClr val="D2B7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A8EE265-5018-11AE-1F81-DA80D3B98C8F}"/>
              </a:ext>
            </a:extLst>
          </p:cNvPr>
          <p:cNvSpPr txBox="1"/>
          <p:nvPr/>
        </p:nvSpPr>
        <p:spPr>
          <a:xfrm>
            <a:off x="3112821" y="1994994"/>
            <a:ext cx="634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>
                <a:solidFill>
                  <a:srgbClr val="3A436A"/>
                </a:solidFill>
              </a:rPr>
              <a:t>Título</a:t>
            </a:r>
            <a:endParaRPr lang="pt-PT" sz="1600" b="1" dirty="0">
              <a:solidFill>
                <a:srgbClr val="3A436A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6B2384-85F5-44E9-8AF1-FAA319A75B5D}"/>
              </a:ext>
            </a:extLst>
          </p:cNvPr>
          <p:cNvSpPr txBox="1"/>
          <p:nvPr/>
        </p:nvSpPr>
        <p:spPr>
          <a:xfrm>
            <a:off x="8134376" y="1987209"/>
            <a:ext cx="11870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>
                <a:solidFill>
                  <a:srgbClr val="3A436A"/>
                </a:solidFill>
              </a:rPr>
              <a:t>Resultado (€)</a:t>
            </a:r>
            <a:endParaRPr lang="pt-PT" sz="1600" b="1" dirty="0">
              <a:solidFill>
                <a:srgbClr val="3A436A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592019F-C2DF-76A6-E595-5CD81E668D0C}"/>
              </a:ext>
            </a:extLst>
          </p:cNvPr>
          <p:cNvCxnSpPr>
            <a:cxnSpLocks/>
          </p:cNvCxnSpPr>
          <p:nvPr/>
        </p:nvCxnSpPr>
        <p:spPr>
          <a:xfrm flipH="1">
            <a:off x="2900879" y="2319134"/>
            <a:ext cx="8154217" cy="8606"/>
          </a:xfrm>
          <a:prstGeom prst="line">
            <a:avLst/>
          </a:prstGeom>
          <a:ln>
            <a:solidFill>
              <a:srgbClr val="D2B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181C2BF-536E-9C63-6F6A-9653D5363043}"/>
              </a:ext>
            </a:extLst>
          </p:cNvPr>
          <p:cNvSpPr txBox="1"/>
          <p:nvPr/>
        </p:nvSpPr>
        <p:spPr>
          <a:xfrm>
            <a:off x="3109815" y="2439073"/>
            <a:ext cx="6708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Joker 1</a:t>
            </a:r>
            <a:endParaRPr lang="pt-PT" sz="1600" dirty="0">
              <a:solidFill>
                <a:srgbClr val="3A436A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1CAC5F-81CC-0C10-6E85-D698D76DF6AE}"/>
              </a:ext>
            </a:extLst>
          </p:cNvPr>
          <p:cNvSpPr txBox="1"/>
          <p:nvPr/>
        </p:nvSpPr>
        <p:spPr>
          <a:xfrm>
            <a:off x="3109816" y="2810354"/>
            <a:ext cx="67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Joker 2</a:t>
            </a:r>
            <a:endParaRPr lang="pt-PT" sz="1600" dirty="0">
              <a:solidFill>
                <a:srgbClr val="3A436A"/>
              </a:solidFill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8269517A-35F2-5135-4EDE-41CFBF87B8E4}"/>
              </a:ext>
            </a:extLst>
          </p:cNvPr>
          <p:cNvSpPr txBox="1"/>
          <p:nvPr/>
        </p:nvSpPr>
        <p:spPr>
          <a:xfrm>
            <a:off x="4645839" y="2491023"/>
            <a:ext cx="12612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Vasco, Patrícia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648124F8-9E29-09D5-CCCC-C27547369A25}"/>
              </a:ext>
            </a:extLst>
          </p:cNvPr>
          <p:cNvSpPr txBox="1"/>
          <p:nvPr/>
        </p:nvSpPr>
        <p:spPr>
          <a:xfrm>
            <a:off x="3109815" y="3180605"/>
            <a:ext cx="67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Joker 3</a:t>
            </a:r>
            <a:endParaRPr lang="pt-PT" sz="1600" dirty="0">
              <a:solidFill>
                <a:srgbClr val="3A436A"/>
              </a:solidFill>
            </a:endParaRP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36DC61BC-82EF-5AD0-206B-420D3A90CCCC}"/>
              </a:ext>
            </a:extLst>
          </p:cNvPr>
          <p:cNvSpPr txBox="1"/>
          <p:nvPr/>
        </p:nvSpPr>
        <p:spPr>
          <a:xfrm>
            <a:off x="4559148" y="1988287"/>
            <a:ext cx="1443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>
                <a:solidFill>
                  <a:srgbClr val="3A436A"/>
                </a:solidFill>
              </a:rPr>
              <a:t>Apresentador(</a:t>
            </a:r>
            <a:r>
              <a:rPr lang="pt-PT" sz="1200" b="1" dirty="0" err="1">
                <a:solidFill>
                  <a:srgbClr val="3A436A"/>
                </a:solidFill>
              </a:rPr>
              <a:t>es</a:t>
            </a:r>
            <a:r>
              <a:rPr lang="pt-PT" sz="1200" b="1" dirty="0">
                <a:solidFill>
                  <a:srgbClr val="3A436A"/>
                </a:solidFill>
              </a:rPr>
              <a:t>)</a:t>
            </a:r>
            <a:endParaRPr lang="pt-PT" sz="1600" b="1" dirty="0">
              <a:solidFill>
                <a:srgbClr val="3A436A"/>
              </a:solidFill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15E629BA-2017-1B99-5C39-0755BA8258E1}"/>
              </a:ext>
            </a:extLst>
          </p:cNvPr>
          <p:cNvSpPr txBox="1"/>
          <p:nvPr/>
        </p:nvSpPr>
        <p:spPr>
          <a:xfrm>
            <a:off x="9458475" y="1967908"/>
            <a:ext cx="634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>
                <a:solidFill>
                  <a:srgbClr val="3A436A"/>
                </a:solidFill>
              </a:rPr>
              <a:t>Data</a:t>
            </a:r>
            <a:endParaRPr lang="pt-PT" sz="1600" b="1" dirty="0">
              <a:solidFill>
                <a:srgbClr val="3A436A"/>
              </a:solidFill>
            </a:endParaRP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C26A4F53-4A76-9490-6D69-13BD1A3383AD}"/>
              </a:ext>
            </a:extLst>
          </p:cNvPr>
          <p:cNvSpPr txBox="1"/>
          <p:nvPr/>
        </p:nvSpPr>
        <p:spPr>
          <a:xfrm>
            <a:off x="10281422" y="1983419"/>
            <a:ext cx="634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>
                <a:solidFill>
                  <a:srgbClr val="3A436A"/>
                </a:solidFill>
              </a:rPr>
              <a:t>Ações</a:t>
            </a:r>
            <a:endParaRPr lang="pt-PT" sz="1600" b="1" dirty="0">
              <a:solidFill>
                <a:srgbClr val="3A436A"/>
              </a:solidFill>
            </a:endParaRP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2A96B8CD-CC7C-AF70-4FFF-A9AA15BEB5BA}"/>
              </a:ext>
            </a:extLst>
          </p:cNvPr>
          <p:cNvSpPr txBox="1"/>
          <p:nvPr/>
        </p:nvSpPr>
        <p:spPr>
          <a:xfrm>
            <a:off x="4645839" y="2845257"/>
            <a:ext cx="12612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Vasco, Patrícia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1096709F-FA9C-9098-036C-FC277D21C509}"/>
              </a:ext>
            </a:extLst>
          </p:cNvPr>
          <p:cNvSpPr txBox="1"/>
          <p:nvPr/>
        </p:nvSpPr>
        <p:spPr>
          <a:xfrm>
            <a:off x="4615005" y="3180605"/>
            <a:ext cx="12612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Vasco, Patrícia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9E02C232-B2C9-D125-18E8-FFF20BA689F3}"/>
              </a:ext>
            </a:extLst>
          </p:cNvPr>
          <p:cNvSpPr txBox="1"/>
          <p:nvPr/>
        </p:nvSpPr>
        <p:spPr>
          <a:xfrm>
            <a:off x="7883905" y="2532840"/>
            <a:ext cx="16880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A decorrer programa…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98CE8628-45EC-FF0D-45C9-75D8A7D5CA5E}"/>
              </a:ext>
            </a:extLst>
          </p:cNvPr>
          <p:cNvSpPr txBox="1"/>
          <p:nvPr/>
        </p:nvSpPr>
        <p:spPr>
          <a:xfrm>
            <a:off x="6710631" y="2934140"/>
            <a:ext cx="795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Joãozito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45830044-1F19-6638-B16C-3648D865EDC0}"/>
              </a:ext>
            </a:extLst>
          </p:cNvPr>
          <p:cNvSpPr txBox="1"/>
          <p:nvPr/>
        </p:nvSpPr>
        <p:spPr>
          <a:xfrm>
            <a:off x="6301513" y="1994994"/>
            <a:ext cx="16182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b="1" dirty="0">
                <a:solidFill>
                  <a:srgbClr val="3A436A"/>
                </a:solidFill>
              </a:rPr>
              <a:t>Nome concorrente</a:t>
            </a:r>
            <a:endParaRPr lang="pt-PT" sz="1600" b="1" dirty="0">
              <a:solidFill>
                <a:srgbClr val="3A436A"/>
              </a:solidFill>
            </a:endParaRP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BA8A5FDA-6BE7-7D88-A96D-CEAC055B54B5}"/>
              </a:ext>
            </a:extLst>
          </p:cNvPr>
          <p:cNvSpPr txBox="1"/>
          <p:nvPr/>
        </p:nvSpPr>
        <p:spPr>
          <a:xfrm>
            <a:off x="6710631" y="3239359"/>
            <a:ext cx="795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Mariazita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1AF25CDD-D72B-1352-94D0-33109EA77D6D}"/>
              </a:ext>
            </a:extLst>
          </p:cNvPr>
          <p:cNvSpPr txBox="1"/>
          <p:nvPr/>
        </p:nvSpPr>
        <p:spPr>
          <a:xfrm>
            <a:off x="6718022" y="2548861"/>
            <a:ext cx="795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Joanita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A5C50877-F450-1FA7-AFAF-D606C4A16AE1}"/>
              </a:ext>
            </a:extLst>
          </p:cNvPr>
          <p:cNvSpPr txBox="1"/>
          <p:nvPr/>
        </p:nvSpPr>
        <p:spPr>
          <a:xfrm>
            <a:off x="8491083" y="2903362"/>
            <a:ext cx="630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200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149561EA-0A2C-CEB9-B7E1-78F165DDE7D9}"/>
              </a:ext>
            </a:extLst>
          </p:cNvPr>
          <p:cNvSpPr txBox="1"/>
          <p:nvPr/>
        </p:nvSpPr>
        <p:spPr>
          <a:xfrm>
            <a:off x="8412736" y="3251569"/>
            <a:ext cx="630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1000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DDBBBE7E-8E8F-D0E5-D094-1F28C4AE5A56}"/>
              </a:ext>
            </a:extLst>
          </p:cNvPr>
          <p:cNvSpPr txBox="1"/>
          <p:nvPr/>
        </p:nvSpPr>
        <p:spPr>
          <a:xfrm>
            <a:off x="9571918" y="2534472"/>
            <a:ext cx="520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Hoje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D3414668-6887-50B8-9B1B-043DD6ECF775}"/>
              </a:ext>
            </a:extLst>
          </p:cNvPr>
          <p:cNvSpPr txBox="1"/>
          <p:nvPr/>
        </p:nvSpPr>
        <p:spPr>
          <a:xfrm>
            <a:off x="9563740" y="2910184"/>
            <a:ext cx="520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Hoje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DC7D1D41-B9F3-960D-8DB2-B5218EDF0120}"/>
              </a:ext>
            </a:extLst>
          </p:cNvPr>
          <p:cNvSpPr txBox="1"/>
          <p:nvPr/>
        </p:nvSpPr>
        <p:spPr>
          <a:xfrm>
            <a:off x="9560207" y="3268135"/>
            <a:ext cx="520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3A436A"/>
                </a:solidFill>
              </a:rPr>
              <a:t>Hoje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C64A1ACF-D541-5D41-33DE-8E8F6E202F7A}"/>
              </a:ext>
            </a:extLst>
          </p:cNvPr>
          <p:cNvSpPr txBox="1"/>
          <p:nvPr/>
        </p:nvSpPr>
        <p:spPr>
          <a:xfrm>
            <a:off x="10236423" y="2523792"/>
            <a:ext cx="795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u="sng" dirty="0">
                <a:solidFill>
                  <a:srgbClr val="3A436A"/>
                </a:solidFill>
              </a:rPr>
              <a:t>Ver mais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153EF40D-5AC0-70F4-8CEA-0BC5BE43EA66}"/>
              </a:ext>
            </a:extLst>
          </p:cNvPr>
          <p:cNvSpPr txBox="1"/>
          <p:nvPr/>
        </p:nvSpPr>
        <p:spPr>
          <a:xfrm>
            <a:off x="10234027" y="2902299"/>
            <a:ext cx="795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u="sng" dirty="0">
                <a:solidFill>
                  <a:srgbClr val="3A436A"/>
                </a:solidFill>
              </a:rPr>
              <a:t>Ver mais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4FA36E5B-A648-3207-1E07-E53E8B2B5A99}"/>
              </a:ext>
            </a:extLst>
          </p:cNvPr>
          <p:cNvSpPr txBox="1"/>
          <p:nvPr/>
        </p:nvSpPr>
        <p:spPr>
          <a:xfrm>
            <a:off x="10186498" y="3290500"/>
            <a:ext cx="795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u="sng" dirty="0">
                <a:solidFill>
                  <a:srgbClr val="3A436A"/>
                </a:solidFill>
              </a:rPr>
              <a:t>Ver mais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E8A490CE-C5C7-FFFA-A1CB-10F94EE71CE6}"/>
              </a:ext>
            </a:extLst>
          </p:cNvPr>
          <p:cNvSpPr txBox="1"/>
          <p:nvPr/>
        </p:nvSpPr>
        <p:spPr>
          <a:xfrm>
            <a:off x="10890134" y="2533260"/>
            <a:ext cx="14545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u="sng" dirty="0">
                <a:solidFill>
                  <a:srgbClr val="3A436A"/>
                </a:solidFill>
              </a:rPr>
              <a:t>Botões de </a:t>
            </a:r>
            <a:r>
              <a:rPr lang="pt-PT" sz="1200" u="sng" dirty="0" err="1">
                <a:solidFill>
                  <a:srgbClr val="3A436A"/>
                </a:solidFill>
              </a:rPr>
              <a:t>admin</a:t>
            </a:r>
            <a:endParaRPr lang="pt-PT" sz="1200" u="sng" dirty="0">
              <a:solidFill>
                <a:srgbClr val="3A43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01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6162-190A-071F-D345-0EEA872B2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Rectangle: Rounded Corners 1050">
            <a:extLst>
              <a:ext uri="{FF2B5EF4-FFF2-40B4-BE49-F238E27FC236}">
                <a16:creationId xmlns:a16="http://schemas.microsoft.com/office/drawing/2014/main" id="{C42AEB11-E0E6-70BF-8E14-670229811E09}"/>
              </a:ext>
            </a:extLst>
          </p:cNvPr>
          <p:cNvSpPr/>
          <p:nvPr/>
        </p:nvSpPr>
        <p:spPr>
          <a:xfrm>
            <a:off x="174614" y="952771"/>
            <a:ext cx="2004526" cy="5300245"/>
          </a:xfrm>
          <a:prstGeom prst="roundRect">
            <a:avLst/>
          </a:prstGeom>
          <a:solidFill>
            <a:srgbClr val="3A436A"/>
          </a:soli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BEF1AF-97C9-CCE3-AD90-29F2EA50A0DA}"/>
              </a:ext>
            </a:extLst>
          </p:cNvPr>
          <p:cNvSpPr/>
          <p:nvPr/>
        </p:nvSpPr>
        <p:spPr>
          <a:xfrm>
            <a:off x="2289874" y="923302"/>
            <a:ext cx="9727511" cy="5329713"/>
          </a:xfrm>
          <a:prstGeom prst="roundRect">
            <a:avLst/>
          </a:prstGeom>
          <a:gradFill flip="none" rotWithShape="1">
            <a:gsLst>
              <a:gs pos="0">
                <a:srgbClr val="3A436A">
                  <a:tint val="66000"/>
                  <a:satMod val="160000"/>
                </a:srgbClr>
              </a:gs>
              <a:gs pos="50000">
                <a:srgbClr val="3A436A">
                  <a:tint val="44500"/>
                  <a:satMod val="160000"/>
                </a:srgbClr>
              </a:gs>
              <a:gs pos="100000">
                <a:srgbClr val="3A436A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pic>
        <p:nvPicPr>
          <p:cNvPr id="1026" name="Picture 2" descr="Joker - RTP">
            <a:extLst>
              <a:ext uri="{FF2B5EF4-FFF2-40B4-BE49-F238E27FC236}">
                <a16:creationId xmlns:a16="http://schemas.microsoft.com/office/drawing/2014/main" id="{F6A45167-F9A9-FC6D-569D-CCD526FE1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23" y="231681"/>
            <a:ext cx="1334672" cy="50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Ringer with solid fill">
            <a:extLst>
              <a:ext uri="{FF2B5EF4-FFF2-40B4-BE49-F238E27FC236}">
                <a16:creationId xmlns:a16="http://schemas.microsoft.com/office/drawing/2014/main" id="{38A3277E-4989-50C1-73E7-D87C1392A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37611" y="337609"/>
            <a:ext cx="313379" cy="313379"/>
          </a:xfrm>
          <a:prstGeom prst="rect">
            <a:avLst/>
          </a:prstGeom>
        </p:spPr>
      </p:pic>
      <p:pic>
        <p:nvPicPr>
          <p:cNvPr id="15" name="Graphic 14" descr="Help with solid fill">
            <a:extLst>
              <a:ext uri="{FF2B5EF4-FFF2-40B4-BE49-F238E27FC236}">
                <a16:creationId xmlns:a16="http://schemas.microsoft.com/office/drawing/2014/main" id="{E2EEF40F-4A81-DB4B-5D3A-AD865031C1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91174" y="337610"/>
            <a:ext cx="313379" cy="31337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4970320-8961-20D5-1319-44CB62BFB1BE}"/>
              </a:ext>
            </a:extLst>
          </p:cNvPr>
          <p:cNvGrpSpPr/>
          <p:nvPr/>
        </p:nvGrpSpPr>
        <p:grpSpPr>
          <a:xfrm>
            <a:off x="11226237" y="309488"/>
            <a:ext cx="367100" cy="338065"/>
            <a:chOff x="10983045" y="226736"/>
            <a:chExt cx="462488" cy="425909"/>
          </a:xfrm>
        </p:grpSpPr>
        <p:pic>
          <p:nvPicPr>
            <p:cNvPr id="32" name="Graphic 31" descr="Office worker male with solid fill">
              <a:extLst>
                <a:ext uri="{FF2B5EF4-FFF2-40B4-BE49-F238E27FC236}">
                  <a16:creationId xmlns:a16="http://schemas.microsoft.com/office/drawing/2014/main" id="{A5038318-7F87-BA84-F314-ADF9FD7F4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005311" y="226737"/>
              <a:ext cx="394808" cy="394808"/>
            </a:xfrm>
            <a:prstGeom prst="rect">
              <a:avLst/>
            </a:prstGeom>
          </p:spPr>
        </p:pic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2EB0E1F-3B2C-BE4C-ED8F-F7EC5719F09B}"/>
                </a:ext>
              </a:extLst>
            </p:cNvPr>
            <p:cNvSpPr/>
            <p:nvPr/>
          </p:nvSpPr>
          <p:spPr>
            <a:xfrm>
              <a:off x="10983045" y="226736"/>
              <a:ext cx="462488" cy="425909"/>
            </a:xfrm>
            <a:prstGeom prst="ellipse">
              <a:avLst/>
            </a:prstGeom>
            <a:noFill/>
            <a:ln>
              <a:solidFill>
                <a:srgbClr val="3A43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2FB4D2C-C9A9-8D56-CA16-162A4D9E8B92}"/>
              </a:ext>
            </a:extLst>
          </p:cNvPr>
          <p:cNvSpPr txBox="1"/>
          <p:nvPr/>
        </p:nvSpPr>
        <p:spPr>
          <a:xfrm>
            <a:off x="286089" y="2011357"/>
            <a:ext cx="1865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Apostas Comunidade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E55B47-FCBA-7557-12A0-7CEFDA8457AE}"/>
              </a:ext>
            </a:extLst>
          </p:cNvPr>
          <p:cNvSpPr txBox="1"/>
          <p:nvPr/>
        </p:nvSpPr>
        <p:spPr>
          <a:xfrm>
            <a:off x="286089" y="2371067"/>
            <a:ext cx="1286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Ranking  </a:t>
            </a:r>
            <a:r>
              <a:rPr lang="pt-PT" sz="1050" dirty="0">
                <a:solidFill>
                  <a:srgbClr val="D8D9E1"/>
                </a:solidFill>
              </a:rPr>
              <a:t>▼</a:t>
            </a:r>
            <a:endParaRPr lang="pt-PT" sz="1400" b="1" dirty="0">
              <a:solidFill>
                <a:srgbClr val="D8D9E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FD3349-A2EC-BDDD-1CAD-0BB9594579D2}"/>
              </a:ext>
            </a:extLst>
          </p:cNvPr>
          <p:cNvSpPr txBox="1"/>
          <p:nvPr/>
        </p:nvSpPr>
        <p:spPr>
          <a:xfrm>
            <a:off x="291504" y="1271093"/>
            <a:ext cx="1171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b="1" dirty="0">
                <a:solidFill>
                  <a:srgbClr val="D8D9E1"/>
                </a:solidFill>
              </a:rPr>
              <a:t>Concursos</a:t>
            </a:r>
            <a:endParaRPr lang="pt-PT" b="1" dirty="0">
              <a:solidFill>
                <a:srgbClr val="D8D9E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33AD5C-46D9-C144-3F7D-788B14522052}"/>
              </a:ext>
            </a:extLst>
          </p:cNvPr>
          <p:cNvSpPr txBox="1"/>
          <p:nvPr/>
        </p:nvSpPr>
        <p:spPr>
          <a:xfrm>
            <a:off x="288169" y="1630120"/>
            <a:ext cx="15668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Minhas Apostas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810F6-8265-5BE1-2EC4-86716993FBE6}"/>
              </a:ext>
            </a:extLst>
          </p:cNvPr>
          <p:cNvSpPr txBox="1"/>
          <p:nvPr/>
        </p:nvSpPr>
        <p:spPr>
          <a:xfrm>
            <a:off x="327251" y="5279130"/>
            <a:ext cx="6145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b="1" u="sng" dirty="0">
                <a:solidFill>
                  <a:srgbClr val="D2B763"/>
                </a:solidFill>
              </a:rPr>
              <a:t>FAQs</a:t>
            </a:r>
            <a:endParaRPr lang="pt-PT" b="1" u="sng" dirty="0">
              <a:solidFill>
                <a:srgbClr val="D2B7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29A8B1-C77B-B6D1-8EDE-7ACF46B83EF2}"/>
              </a:ext>
            </a:extLst>
          </p:cNvPr>
          <p:cNvSpPr txBox="1"/>
          <p:nvPr/>
        </p:nvSpPr>
        <p:spPr>
          <a:xfrm>
            <a:off x="325231" y="4973708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Definições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1DB6DC-C444-39F0-B57E-B0BC8EEFA991}"/>
              </a:ext>
            </a:extLst>
          </p:cNvPr>
          <p:cNvSpPr txBox="1"/>
          <p:nvPr/>
        </p:nvSpPr>
        <p:spPr>
          <a:xfrm>
            <a:off x="327251" y="4417542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Perfil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06E54-27A2-0066-8EC4-2338909F664D}"/>
              </a:ext>
            </a:extLst>
          </p:cNvPr>
          <p:cNvSpPr txBox="1"/>
          <p:nvPr/>
        </p:nvSpPr>
        <p:spPr>
          <a:xfrm>
            <a:off x="327251" y="4694902"/>
            <a:ext cx="12453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Notificações</a:t>
            </a:r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443098-0C40-B1DC-1152-3CF3B7CB1423}"/>
              </a:ext>
            </a:extLst>
          </p:cNvPr>
          <p:cNvSpPr/>
          <p:nvPr/>
        </p:nvSpPr>
        <p:spPr>
          <a:xfrm>
            <a:off x="0" y="6441856"/>
            <a:ext cx="12192000" cy="431470"/>
          </a:xfrm>
          <a:prstGeom prst="roundRect">
            <a:avLst/>
          </a:prstGeom>
          <a:solidFill>
            <a:srgbClr val="3A436A"/>
          </a:solidFill>
          <a:ln>
            <a:solidFill>
              <a:srgbClr val="D8D9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D2820-A401-FF7D-7E2C-6E420C2EB48E}"/>
              </a:ext>
            </a:extLst>
          </p:cNvPr>
          <p:cNvSpPr txBox="1"/>
          <p:nvPr/>
        </p:nvSpPr>
        <p:spPr>
          <a:xfrm>
            <a:off x="5401056" y="6519091"/>
            <a:ext cx="13898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D8D9E1"/>
                </a:solidFill>
              </a:rPr>
              <a:t>Copyright ⓒ 2025</a:t>
            </a:r>
          </a:p>
        </p:txBody>
      </p:sp>
      <p:pic>
        <p:nvPicPr>
          <p:cNvPr id="12" name="Picture 2" descr="Joker - RTP">
            <a:extLst>
              <a:ext uri="{FF2B5EF4-FFF2-40B4-BE49-F238E27FC236}">
                <a16:creationId xmlns:a16="http://schemas.microsoft.com/office/drawing/2014/main" id="{6A0D2BA5-E42A-104A-B7FB-B8B10CF6D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442" y="6532498"/>
            <a:ext cx="661416" cy="25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phic 15" descr="Single gear with solid fill">
            <a:extLst>
              <a:ext uri="{FF2B5EF4-FFF2-40B4-BE49-F238E27FC236}">
                <a16:creationId xmlns:a16="http://schemas.microsoft.com/office/drawing/2014/main" id="{83248C3A-EFEA-9780-98EF-49FECD999C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84048" y="337609"/>
            <a:ext cx="313379" cy="31337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430309-2B44-673A-59CC-3DFA9E6C236C}"/>
              </a:ext>
            </a:extLst>
          </p:cNvPr>
          <p:cNvSpPr txBox="1"/>
          <p:nvPr/>
        </p:nvSpPr>
        <p:spPr>
          <a:xfrm>
            <a:off x="530347" y="2649873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Geral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0E9430-6853-64F2-C4F3-11E1C2878CBE}"/>
              </a:ext>
            </a:extLst>
          </p:cNvPr>
          <p:cNvSpPr txBox="1"/>
          <p:nvPr/>
        </p:nvSpPr>
        <p:spPr>
          <a:xfrm>
            <a:off x="530347" y="2903362"/>
            <a:ext cx="1042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D8D9E1"/>
                </a:solidFill>
              </a:rPr>
              <a:t>Semanal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B1E5BEE-3E1B-FEB3-80F0-ED0AA92C128B}"/>
              </a:ext>
            </a:extLst>
          </p:cNvPr>
          <p:cNvCxnSpPr>
            <a:cxnSpLocks/>
          </p:cNvCxnSpPr>
          <p:nvPr/>
        </p:nvCxnSpPr>
        <p:spPr>
          <a:xfrm flipH="1">
            <a:off x="369825" y="4297965"/>
            <a:ext cx="1564317" cy="4451"/>
          </a:xfrm>
          <a:prstGeom prst="line">
            <a:avLst/>
          </a:prstGeom>
          <a:ln>
            <a:solidFill>
              <a:srgbClr val="D2B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FB4BAE9-42CC-F458-623A-F63985CFDE50}"/>
              </a:ext>
            </a:extLst>
          </p:cNvPr>
          <p:cNvSpPr/>
          <p:nvPr/>
        </p:nvSpPr>
        <p:spPr>
          <a:xfrm>
            <a:off x="12307903" y="2384349"/>
            <a:ext cx="1644518" cy="1097077"/>
          </a:xfrm>
          <a:prstGeom prst="roundRect">
            <a:avLst/>
          </a:prstGeom>
          <a:solidFill>
            <a:srgbClr val="D2B763"/>
          </a:solidFill>
          <a:ln w="38100">
            <a:solidFill>
              <a:srgbClr val="D2B7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9BCF8159-3BF8-9B17-61CF-13C5CD04FBC7}"/>
              </a:ext>
            </a:extLst>
          </p:cNvPr>
          <p:cNvSpPr txBox="1"/>
          <p:nvPr/>
        </p:nvSpPr>
        <p:spPr>
          <a:xfrm>
            <a:off x="2900009" y="1271093"/>
            <a:ext cx="14982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000" b="1" dirty="0">
                <a:solidFill>
                  <a:srgbClr val="3A436A"/>
                </a:solidFill>
              </a:rPr>
              <a:t>FAQs</a:t>
            </a:r>
            <a:endParaRPr lang="pt-PT" sz="2800" b="1" dirty="0">
              <a:solidFill>
                <a:srgbClr val="3A436A"/>
              </a:solidFill>
            </a:endParaRPr>
          </a:p>
        </p:txBody>
      </p:sp>
      <p:pic>
        <p:nvPicPr>
          <p:cNvPr id="25" name="Picture 24" descr="A person in a suit&#10;&#10;AI-generated content may be incorrect.">
            <a:extLst>
              <a:ext uri="{FF2B5EF4-FFF2-40B4-BE49-F238E27FC236}">
                <a16:creationId xmlns:a16="http://schemas.microsoft.com/office/drawing/2014/main" id="{7F95FEE2-EB9D-5740-2E1B-DAEACD939D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45" r="19076" b="34307"/>
          <a:stretch>
            <a:fillRect/>
          </a:stretch>
        </p:blipFill>
        <p:spPr>
          <a:xfrm>
            <a:off x="10522687" y="969503"/>
            <a:ext cx="1101049" cy="866917"/>
          </a:xfrm>
          <a:prstGeom prst="rect">
            <a:avLst/>
          </a:prstGeom>
        </p:spPr>
      </p:pic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8049C15-B083-AED7-2DB3-B49CB9BBF4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31791">
            <a:off x="10215481" y="1070744"/>
            <a:ext cx="521928" cy="521928"/>
          </a:xfrm>
          <a:prstGeom prst="rect">
            <a:avLst/>
          </a:prstGeom>
        </p:spPr>
      </p:pic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7B6EDFD-70F3-408C-26FF-A013511C53AC}"/>
              </a:ext>
            </a:extLst>
          </p:cNvPr>
          <p:cNvSpPr/>
          <p:nvPr/>
        </p:nvSpPr>
        <p:spPr>
          <a:xfrm>
            <a:off x="2592918" y="1937897"/>
            <a:ext cx="9014125" cy="1565967"/>
          </a:xfrm>
          <a:prstGeom prst="roundRect">
            <a:avLst/>
          </a:prstGeom>
          <a:noFill/>
          <a:ln>
            <a:solidFill>
              <a:srgbClr val="3A43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3C63E6-05FA-BB83-4F0A-BF34217020E7}"/>
              </a:ext>
            </a:extLst>
          </p:cNvPr>
          <p:cNvSpPr txBox="1"/>
          <p:nvPr/>
        </p:nvSpPr>
        <p:spPr>
          <a:xfrm>
            <a:off x="2643427" y="1961290"/>
            <a:ext cx="89636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3A436A"/>
                </a:solidFill>
              </a:rPr>
              <a:t>▼  O que é o JOKER?</a:t>
            </a:r>
          </a:p>
          <a:p>
            <a:endParaRPr lang="pt-PT" sz="1400" dirty="0">
              <a:solidFill>
                <a:srgbClr val="3A436A"/>
              </a:solidFill>
            </a:endParaRPr>
          </a:p>
          <a:p>
            <a:r>
              <a:rPr lang="pt-PT" sz="1400" dirty="0" err="1">
                <a:solidFill>
                  <a:srgbClr val="3A436A"/>
                </a:solidFill>
              </a:rPr>
              <a:t>Lorem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ipsum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dolor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sit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amet</a:t>
            </a:r>
            <a:r>
              <a:rPr lang="pt-PT" sz="1400" dirty="0">
                <a:solidFill>
                  <a:srgbClr val="3A436A"/>
                </a:solidFill>
              </a:rPr>
              <a:t>, </a:t>
            </a:r>
            <a:r>
              <a:rPr lang="pt-PT" sz="1400" dirty="0" err="1">
                <a:solidFill>
                  <a:srgbClr val="3A436A"/>
                </a:solidFill>
              </a:rPr>
              <a:t>consectetur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adipiscing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elit</a:t>
            </a:r>
            <a:r>
              <a:rPr lang="pt-PT" sz="1400" dirty="0">
                <a:solidFill>
                  <a:srgbClr val="3A436A"/>
                </a:solidFill>
              </a:rPr>
              <a:t>. </a:t>
            </a:r>
            <a:r>
              <a:rPr lang="pt-PT" sz="1400" dirty="0" err="1">
                <a:solidFill>
                  <a:srgbClr val="3A436A"/>
                </a:solidFill>
              </a:rPr>
              <a:t>Mauris</a:t>
            </a:r>
            <a:r>
              <a:rPr lang="pt-PT" sz="1400" dirty="0">
                <a:solidFill>
                  <a:srgbClr val="3A436A"/>
                </a:solidFill>
              </a:rPr>
              <a:t> a eros </a:t>
            </a:r>
            <a:r>
              <a:rPr lang="pt-PT" sz="1400" dirty="0" err="1">
                <a:solidFill>
                  <a:srgbClr val="3A436A"/>
                </a:solidFill>
              </a:rPr>
              <a:t>dui</a:t>
            </a:r>
            <a:r>
              <a:rPr lang="pt-PT" sz="1400" dirty="0">
                <a:solidFill>
                  <a:srgbClr val="3A436A"/>
                </a:solidFill>
              </a:rPr>
              <a:t>. </a:t>
            </a:r>
            <a:r>
              <a:rPr lang="pt-PT" sz="1400" dirty="0" err="1">
                <a:solidFill>
                  <a:srgbClr val="3A436A"/>
                </a:solidFill>
              </a:rPr>
              <a:t>Vivamus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sodales</a:t>
            </a:r>
            <a:r>
              <a:rPr lang="pt-PT" sz="1400" dirty="0">
                <a:solidFill>
                  <a:srgbClr val="3A436A"/>
                </a:solidFill>
              </a:rPr>
              <a:t> quis </a:t>
            </a:r>
            <a:r>
              <a:rPr lang="pt-PT" sz="1400" dirty="0" err="1">
                <a:solidFill>
                  <a:srgbClr val="3A436A"/>
                </a:solidFill>
              </a:rPr>
              <a:t>ligula</a:t>
            </a:r>
            <a:r>
              <a:rPr lang="pt-PT" sz="1400" dirty="0">
                <a:solidFill>
                  <a:srgbClr val="3A436A"/>
                </a:solidFill>
              </a:rPr>
              <a:t> non </a:t>
            </a:r>
            <a:r>
              <a:rPr lang="pt-PT" sz="1400" dirty="0" err="1">
                <a:solidFill>
                  <a:srgbClr val="3A436A"/>
                </a:solidFill>
              </a:rPr>
              <a:t>faucibus</a:t>
            </a:r>
            <a:r>
              <a:rPr lang="pt-PT" sz="1400" dirty="0">
                <a:solidFill>
                  <a:srgbClr val="3A436A"/>
                </a:solidFill>
              </a:rPr>
              <a:t>. </a:t>
            </a:r>
            <a:r>
              <a:rPr lang="pt-PT" sz="1400" dirty="0" err="1">
                <a:solidFill>
                  <a:srgbClr val="3A436A"/>
                </a:solidFill>
              </a:rPr>
              <a:t>Proin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scelerisque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tellus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sed</a:t>
            </a:r>
            <a:r>
              <a:rPr lang="pt-PT" sz="1400" dirty="0">
                <a:solidFill>
                  <a:srgbClr val="3A436A"/>
                </a:solidFill>
              </a:rPr>
              <a:t> massa </a:t>
            </a:r>
            <a:r>
              <a:rPr lang="pt-PT" sz="1400" dirty="0" err="1">
                <a:solidFill>
                  <a:srgbClr val="3A436A"/>
                </a:solidFill>
              </a:rPr>
              <a:t>laoreet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rhoncus</a:t>
            </a:r>
            <a:r>
              <a:rPr lang="pt-PT" sz="1400" dirty="0">
                <a:solidFill>
                  <a:srgbClr val="3A436A"/>
                </a:solidFill>
              </a:rPr>
              <a:t>. </a:t>
            </a:r>
            <a:r>
              <a:rPr lang="pt-PT" sz="1400" dirty="0" err="1">
                <a:solidFill>
                  <a:srgbClr val="3A436A"/>
                </a:solidFill>
              </a:rPr>
              <a:t>Nulla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pharetra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nisi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ligula</a:t>
            </a:r>
            <a:r>
              <a:rPr lang="pt-PT" sz="1400" dirty="0">
                <a:solidFill>
                  <a:srgbClr val="3A436A"/>
                </a:solidFill>
              </a:rPr>
              <a:t>. </a:t>
            </a:r>
            <a:r>
              <a:rPr lang="pt-PT" sz="1400" dirty="0" err="1">
                <a:solidFill>
                  <a:srgbClr val="3A436A"/>
                </a:solidFill>
              </a:rPr>
              <a:t>Sed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pellentesque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malesuada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sapien</a:t>
            </a:r>
            <a:r>
              <a:rPr lang="pt-PT" sz="1400" dirty="0">
                <a:solidFill>
                  <a:srgbClr val="3A436A"/>
                </a:solidFill>
              </a:rPr>
              <a:t>, </a:t>
            </a:r>
            <a:r>
              <a:rPr lang="pt-PT" sz="1400" dirty="0" err="1">
                <a:solidFill>
                  <a:srgbClr val="3A436A"/>
                </a:solidFill>
              </a:rPr>
              <a:t>ac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interdum</a:t>
            </a:r>
            <a:r>
              <a:rPr lang="pt-PT" sz="1400" dirty="0">
                <a:solidFill>
                  <a:srgbClr val="3A436A"/>
                </a:solidFill>
              </a:rPr>
              <a:t> urna. </a:t>
            </a:r>
            <a:r>
              <a:rPr lang="pt-PT" sz="1400" dirty="0" err="1">
                <a:solidFill>
                  <a:srgbClr val="3A436A"/>
                </a:solidFill>
              </a:rPr>
              <a:t>Aliquam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et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rutrum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tellus</a:t>
            </a:r>
            <a:r>
              <a:rPr lang="pt-PT" sz="1400" dirty="0">
                <a:solidFill>
                  <a:srgbClr val="3A436A"/>
                </a:solidFill>
              </a:rPr>
              <a:t>, </a:t>
            </a:r>
            <a:r>
              <a:rPr lang="pt-PT" sz="1400" dirty="0" err="1">
                <a:solidFill>
                  <a:srgbClr val="3A436A"/>
                </a:solidFill>
              </a:rPr>
              <a:t>sed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molestie</a:t>
            </a:r>
            <a:r>
              <a:rPr lang="pt-PT" sz="1400" dirty="0">
                <a:solidFill>
                  <a:srgbClr val="3A436A"/>
                </a:solidFill>
              </a:rPr>
              <a:t> ex. </a:t>
            </a:r>
            <a:r>
              <a:rPr lang="pt-PT" sz="1400" dirty="0" err="1">
                <a:solidFill>
                  <a:srgbClr val="3A436A"/>
                </a:solidFill>
              </a:rPr>
              <a:t>Nullam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sagittis</a:t>
            </a:r>
            <a:r>
              <a:rPr lang="pt-PT" sz="1400" dirty="0">
                <a:solidFill>
                  <a:srgbClr val="3A436A"/>
                </a:solidFill>
              </a:rPr>
              <a:t> massa ut </a:t>
            </a:r>
            <a:r>
              <a:rPr lang="pt-PT" sz="1400" dirty="0" err="1">
                <a:solidFill>
                  <a:srgbClr val="3A436A"/>
                </a:solidFill>
              </a:rPr>
              <a:t>dolor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rutrum</a:t>
            </a:r>
            <a:r>
              <a:rPr lang="pt-PT" sz="1400" dirty="0">
                <a:solidFill>
                  <a:srgbClr val="3A436A"/>
                </a:solidFill>
              </a:rPr>
              <a:t>, </a:t>
            </a:r>
            <a:r>
              <a:rPr lang="pt-PT" sz="1400" dirty="0" err="1">
                <a:solidFill>
                  <a:srgbClr val="3A436A"/>
                </a:solidFill>
              </a:rPr>
              <a:t>commodo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iaculis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velit</a:t>
            </a:r>
            <a:r>
              <a:rPr lang="pt-PT" sz="1400" dirty="0">
                <a:solidFill>
                  <a:srgbClr val="3A436A"/>
                </a:solidFill>
              </a:rPr>
              <a:t> </a:t>
            </a:r>
            <a:r>
              <a:rPr lang="pt-PT" sz="1400" dirty="0" err="1">
                <a:solidFill>
                  <a:srgbClr val="3A436A"/>
                </a:solidFill>
              </a:rPr>
              <a:t>hendrerit</a:t>
            </a:r>
            <a:r>
              <a:rPr lang="pt-PT" sz="1400" dirty="0">
                <a:solidFill>
                  <a:srgbClr val="3A436A"/>
                </a:solidFill>
              </a:rPr>
              <a:t>.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4451FD8-1FF4-F37D-CC18-541C8169CF86}"/>
              </a:ext>
            </a:extLst>
          </p:cNvPr>
          <p:cNvSpPr/>
          <p:nvPr/>
        </p:nvSpPr>
        <p:spPr>
          <a:xfrm>
            <a:off x="2579211" y="4449603"/>
            <a:ext cx="9014125" cy="334190"/>
          </a:xfrm>
          <a:prstGeom prst="roundRect">
            <a:avLst/>
          </a:prstGeom>
          <a:noFill/>
          <a:ln>
            <a:solidFill>
              <a:srgbClr val="3A43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54D8F6CF-9792-92CE-7000-AE9EE81DD1CF}"/>
              </a:ext>
            </a:extLst>
          </p:cNvPr>
          <p:cNvSpPr txBox="1"/>
          <p:nvPr/>
        </p:nvSpPr>
        <p:spPr>
          <a:xfrm>
            <a:off x="2629720" y="4472995"/>
            <a:ext cx="347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3A436A"/>
                </a:solidFill>
              </a:rPr>
              <a:t>▶   Qual o nosso objetivo?</a:t>
            </a:r>
            <a:endParaRPr lang="pt-PT" sz="1400" b="1" dirty="0">
              <a:solidFill>
                <a:srgbClr val="3A436A"/>
              </a:solidFill>
            </a:endParaRPr>
          </a:p>
        </p:txBody>
      </p:sp>
      <p:sp>
        <p:nvSpPr>
          <p:cNvPr id="1025" name="Rectangle: Rounded Corners 1024">
            <a:extLst>
              <a:ext uri="{FF2B5EF4-FFF2-40B4-BE49-F238E27FC236}">
                <a16:creationId xmlns:a16="http://schemas.microsoft.com/office/drawing/2014/main" id="{1AB56CF7-975A-3519-BA13-692E33328AE7}"/>
              </a:ext>
            </a:extLst>
          </p:cNvPr>
          <p:cNvSpPr/>
          <p:nvPr/>
        </p:nvSpPr>
        <p:spPr>
          <a:xfrm>
            <a:off x="2570557" y="4873270"/>
            <a:ext cx="9014125" cy="334190"/>
          </a:xfrm>
          <a:prstGeom prst="roundRect">
            <a:avLst/>
          </a:prstGeom>
          <a:noFill/>
          <a:ln>
            <a:solidFill>
              <a:srgbClr val="3A43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53469284-DDE6-5D08-93D1-143D2357C808}"/>
              </a:ext>
            </a:extLst>
          </p:cNvPr>
          <p:cNvSpPr txBox="1"/>
          <p:nvPr/>
        </p:nvSpPr>
        <p:spPr>
          <a:xfrm>
            <a:off x="2621066" y="4896662"/>
            <a:ext cx="347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3A436A"/>
                </a:solidFill>
              </a:rPr>
              <a:t>▶   Como apostar?</a:t>
            </a:r>
            <a:endParaRPr lang="pt-PT" sz="1400" b="1" dirty="0">
              <a:solidFill>
                <a:srgbClr val="3A436A"/>
              </a:solidFill>
            </a:endParaRPr>
          </a:p>
        </p:txBody>
      </p:sp>
      <p:sp>
        <p:nvSpPr>
          <p:cNvPr id="1038" name="Rectangle: Rounded Corners 1037">
            <a:extLst>
              <a:ext uri="{FF2B5EF4-FFF2-40B4-BE49-F238E27FC236}">
                <a16:creationId xmlns:a16="http://schemas.microsoft.com/office/drawing/2014/main" id="{C98CC3F6-3526-AFB2-57AD-DDBA1588CE6C}"/>
              </a:ext>
            </a:extLst>
          </p:cNvPr>
          <p:cNvSpPr/>
          <p:nvPr/>
        </p:nvSpPr>
        <p:spPr>
          <a:xfrm>
            <a:off x="2592918" y="5296937"/>
            <a:ext cx="9014125" cy="334190"/>
          </a:xfrm>
          <a:prstGeom prst="roundRect">
            <a:avLst/>
          </a:prstGeom>
          <a:noFill/>
          <a:ln>
            <a:solidFill>
              <a:srgbClr val="3A43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B564B2F9-D725-0BA1-B0A4-F43D620A0119}"/>
              </a:ext>
            </a:extLst>
          </p:cNvPr>
          <p:cNvSpPr txBox="1"/>
          <p:nvPr/>
        </p:nvSpPr>
        <p:spPr>
          <a:xfrm>
            <a:off x="2643427" y="5320329"/>
            <a:ext cx="347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3A436A"/>
                </a:solidFill>
              </a:rPr>
              <a:t>▶   Como funcionam os rankings?</a:t>
            </a:r>
            <a:endParaRPr lang="pt-PT" sz="1400" b="1" dirty="0">
              <a:solidFill>
                <a:srgbClr val="3A436A"/>
              </a:solidFill>
            </a:endParaRPr>
          </a:p>
        </p:txBody>
      </p:sp>
      <p:sp>
        <p:nvSpPr>
          <p:cNvPr id="1040" name="Rectangle: Rounded Corners 1039">
            <a:extLst>
              <a:ext uri="{FF2B5EF4-FFF2-40B4-BE49-F238E27FC236}">
                <a16:creationId xmlns:a16="http://schemas.microsoft.com/office/drawing/2014/main" id="{1430DE72-C3DC-9441-899B-5B404409D8F8}"/>
              </a:ext>
            </a:extLst>
          </p:cNvPr>
          <p:cNvSpPr/>
          <p:nvPr/>
        </p:nvSpPr>
        <p:spPr>
          <a:xfrm>
            <a:off x="2570263" y="3597837"/>
            <a:ext cx="9014125" cy="334190"/>
          </a:xfrm>
          <a:prstGeom prst="roundRect">
            <a:avLst/>
          </a:prstGeom>
          <a:noFill/>
          <a:ln>
            <a:solidFill>
              <a:srgbClr val="3A43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2874EB34-7D61-8D78-0DB4-ACBB37FD45C6}"/>
              </a:ext>
            </a:extLst>
          </p:cNvPr>
          <p:cNvSpPr txBox="1"/>
          <p:nvPr/>
        </p:nvSpPr>
        <p:spPr>
          <a:xfrm>
            <a:off x="2620772" y="3621229"/>
            <a:ext cx="347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3A436A"/>
                </a:solidFill>
              </a:rPr>
              <a:t>▶   Quais as regras do JOKER?</a:t>
            </a:r>
            <a:endParaRPr lang="pt-PT" sz="1400" b="1" dirty="0">
              <a:solidFill>
                <a:srgbClr val="3A436A"/>
              </a:solidFill>
            </a:endParaRPr>
          </a:p>
        </p:txBody>
      </p:sp>
      <p:sp>
        <p:nvSpPr>
          <p:cNvPr id="1043" name="Rectangle: Rounded Corners 1042">
            <a:extLst>
              <a:ext uri="{FF2B5EF4-FFF2-40B4-BE49-F238E27FC236}">
                <a16:creationId xmlns:a16="http://schemas.microsoft.com/office/drawing/2014/main" id="{537F5895-6CFF-75A1-6013-4D627D0FF586}"/>
              </a:ext>
            </a:extLst>
          </p:cNvPr>
          <p:cNvSpPr/>
          <p:nvPr/>
        </p:nvSpPr>
        <p:spPr>
          <a:xfrm>
            <a:off x="2570263" y="4022185"/>
            <a:ext cx="9014125" cy="334190"/>
          </a:xfrm>
          <a:prstGeom prst="roundRect">
            <a:avLst/>
          </a:prstGeom>
          <a:noFill/>
          <a:ln>
            <a:solidFill>
              <a:srgbClr val="3A43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solidFill>
                <a:srgbClr val="D8D9E1"/>
              </a:solidFill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0A37EB11-2686-A934-EF0F-42904227901B}"/>
              </a:ext>
            </a:extLst>
          </p:cNvPr>
          <p:cNvSpPr txBox="1"/>
          <p:nvPr/>
        </p:nvSpPr>
        <p:spPr>
          <a:xfrm>
            <a:off x="2620772" y="4045577"/>
            <a:ext cx="347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400" dirty="0">
                <a:solidFill>
                  <a:srgbClr val="3A436A"/>
                </a:solidFill>
              </a:rPr>
              <a:t>▶   Onde ver o JOKER?</a:t>
            </a:r>
            <a:endParaRPr lang="pt-PT" sz="1400" b="1" dirty="0">
              <a:solidFill>
                <a:srgbClr val="3A436A"/>
              </a:solidFill>
            </a:endParaRPr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078A779B-FE56-8DC0-9936-0B70E28D8FC3}"/>
              </a:ext>
            </a:extLst>
          </p:cNvPr>
          <p:cNvGrpSpPr/>
          <p:nvPr/>
        </p:nvGrpSpPr>
        <p:grpSpPr>
          <a:xfrm>
            <a:off x="2289875" y="340183"/>
            <a:ext cx="6992663" cy="308229"/>
            <a:chOff x="2460317" y="285212"/>
            <a:chExt cx="6992663" cy="308229"/>
          </a:xfrm>
        </p:grpSpPr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4C78EA84-A2A3-946A-5190-73C23FAFFF9B}"/>
                </a:ext>
              </a:extLst>
            </p:cNvPr>
            <p:cNvGrpSpPr/>
            <p:nvPr/>
          </p:nvGrpSpPr>
          <p:grpSpPr>
            <a:xfrm>
              <a:off x="2460317" y="288115"/>
              <a:ext cx="6992663" cy="305326"/>
              <a:chOff x="2460317" y="288115"/>
              <a:chExt cx="6992663" cy="305326"/>
            </a:xfrm>
          </p:grpSpPr>
          <p:sp>
            <p:nvSpPr>
              <p:cNvPr id="1049" name="Rectangle: Rounded Corners 1048">
                <a:extLst>
                  <a:ext uri="{FF2B5EF4-FFF2-40B4-BE49-F238E27FC236}">
                    <a16:creationId xmlns:a16="http://schemas.microsoft.com/office/drawing/2014/main" id="{A5AD3F44-6FC5-A34D-39F4-B9AB72799AD5}"/>
                  </a:ext>
                </a:extLst>
              </p:cNvPr>
              <p:cNvSpPr/>
              <p:nvPr/>
            </p:nvSpPr>
            <p:spPr>
              <a:xfrm>
                <a:off x="2460317" y="288115"/>
                <a:ext cx="6992663" cy="305326"/>
              </a:xfrm>
              <a:prstGeom prst="roundRect">
                <a:avLst/>
              </a:prstGeom>
              <a:solidFill>
                <a:srgbClr val="3A436A"/>
              </a:solidFill>
              <a:ln>
                <a:solidFill>
                  <a:srgbClr val="3A43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50" name="TextBox 1049">
                <a:extLst>
                  <a:ext uri="{FF2B5EF4-FFF2-40B4-BE49-F238E27FC236}">
                    <a16:creationId xmlns:a16="http://schemas.microsoft.com/office/drawing/2014/main" id="{4F21A2A4-AFBB-5C30-F993-375A256A6F86}"/>
                  </a:ext>
                </a:extLst>
              </p:cNvPr>
              <p:cNvSpPr txBox="1"/>
              <p:nvPr/>
            </p:nvSpPr>
            <p:spPr>
              <a:xfrm>
                <a:off x="3062646" y="303609"/>
                <a:ext cx="18287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rgbClr val="D8D9E1"/>
                    </a:solidFill>
                  </a:rPr>
                  <a:t>Pesquisa…</a:t>
                </a:r>
              </a:p>
            </p:txBody>
          </p:sp>
        </p:grpSp>
        <p:pic>
          <p:nvPicPr>
            <p:cNvPr id="1047" name="Graphic 1046" descr="Magnifying glass with solid fill">
              <a:extLst>
                <a:ext uri="{FF2B5EF4-FFF2-40B4-BE49-F238E27FC236}">
                  <a16:creationId xmlns:a16="http://schemas.microsoft.com/office/drawing/2014/main" id="{B7B06C54-0CE3-8B22-D125-E212F8032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593493" y="311672"/>
              <a:ext cx="267154" cy="267154"/>
            </a:xfrm>
            <a:prstGeom prst="rect">
              <a:avLst/>
            </a:prstGeom>
          </p:spPr>
        </p:pic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DD58B763-6BB0-3306-709B-BF803BCE3CE8}"/>
                </a:ext>
              </a:extLst>
            </p:cNvPr>
            <p:cNvCxnSpPr>
              <a:cxnSpLocks/>
            </p:cNvCxnSpPr>
            <p:nvPr/>
          </p:nvCxnSpPr>
          <p:spPr>
            <a:xfrm>
              <a:off x="3019611" y="285212"/>
              <a:ext cx="0" cy="308229"/>
            </a:xfrm>
            <a:prstGeom prst="line">
              <a:avLst/>
            </a:prstGeom>
            <a:ln>
              <a:solidFill>
                <a:srgbClr val="D2B7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4467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6F4AB9DBAE5408726A9E278F0CAF6" ma:contentTypeVersion="14" ma:contentTypeDescription="Criar um novo documento." ma:contentTypeScope="" ma:versionID="c95650f3f747bd38f217a8be4cee709e">
  <xsd:schema xmlns:xsd="http://www.w3.org/2001/XMLSchema" xmlns:xs="http://www.w3.org/2001/XMLSchema" xmlns:p="http://schemas.microsoft.com/office/2006/metadata/properties" xmlns:ns3="0ec69f2b-d7cd-45c8-a4b5-1b745e2ce672" xmlns:ns4="f6417472-02e0-42c2-9a73-85cf533addb6" targetNamespace="http://schemas.microsoft.com/office/2006/metadata/properties" ma:root="true" ma:fieldsID="750f2ff8149c46ef921b627141139e93" ns3:_="" ns4:_="">
    <xsd:import namespace="0ec69f2b-d7cd-45c8-a4b5-1b745e2ce672"/>
    <xsd:import namespace="f6417472-02e0-42c2-9a73-85cf533addb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OCR" minOccurs="0"/>
                <xsd:element ref="ns4:MediaServiceSearchPropertie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c69f2b-d7cd-45c8-a4b5-1b745e2ce67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17472-02e0-42c2-9a73-85cf533ad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6417472-02e0-42c2-9a73-85cf533addb6" xsi:nil="true"/>
  </documentManagement>
</p:properties>
</file>

<file path=customXml/itemProps1.xml><?xml version="1.0" encoding="utf-8"?>
<ds:datastoreItem xmlns:ds="http://schemas.openxmlformats.org/officeDocument/2006/customXml" ds:itemID="{02E3FF8E-B896-4C24-8FE8-350EE444D8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c69f2b-d7cd-45c8-a4b5-1b745e2ce672"/>
    <ds:schemaRef ds:uri="f6417472-02e0-42c2-9a73-85cf533add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863AD4-B673-4BF2-AD5C-36FD49C509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27047E-4284-4B1B-905F-C094DCC942A1}">
  <ds:schemaRefs>
    <ds:schemaRef ds:uri="http://www.w3.org/XML/1998/namespace"/>
    <ds:schemaRef ds:uri="http://schemas.microsoft.com/office/2006/metadata/properties"/>
    <ds:schemaRef ds:uri="f6417472-02e0-42c2-9a73-85cf533addb6"/>
    <ds:schemaRef ds:uri="http://schemas.openxmlformats.org/package/2006/metadata/core-properties"/>
    <ds:schemaRef ds:uri="http://schemas.microsoft.com/office/infopath/2007/PartnerControls"/>
    <ds:schemaRef ds:uri="0ec69f2b-d7cd-45c8-a4b5-1b745e2ce672"/>
    <ds:schemaRef ds:uri="http://schemas.microsoft.com/office/2006/documentManagement/types"/>
    <ds:schemaRef ds:uri="http://purl.org/dc/dcmitype/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285</Words>
  <Application>Microsoft Office PowerPoint</Application>
  <PresentationFormat>Widescreen</PresentationFormat>
  <Paragraphs>109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dos Santos Tomás</dc:creator>
  <cp:lastModifiedBy>Daniela dos Santos Tomás</cp:lastModifiedBy>
  <cp:revision>27</cp:revision>
  <dcterms:created xsi:type="dcterms:W3CDTF">2025-08-13T11:34:36Z</dcterms:created>
  <dcterms:modified xsi:type="dcterms:W3CDTF">2025-08-13T18:34:50Z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0x010100B076F4AB9DBAE5408726A9E278F0CAF6</vt:lpwstr>
  </property>
</Properties>
</file>